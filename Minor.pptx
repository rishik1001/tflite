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06" r:id="rId2"/>
    <p:sldId id="521" r:id="rId3"/>
    <p:sldId id="526" r:id="rId4"/>
    <p:sldId id="522" r:id="rId5"/>
    <p:sldId id="523" r:id="rId6"/>
    <p:sldId id="538" r:id="rId7"/>
    <p:sldId id="539" r:id="rId8"/>
    <p:sldId id="531" r:id="rId9"/>
    <p:sldId id="532" r:id="rId10"/>
    <p:sldId id="533" r:id="rId11"/>
    <p:sldId id="540" r:id="rId12"/>
    <p:sldId id="541" r:id="rId13"/>
    <p:sldId id="542" r:id="rId14"/>
    <p:sldId id="535" r:id="rId15"/>
    <p:sldId id="545" r:id="rId16"/>
    <p:sldId id="546" r:id="rId17"/>
    <p:sldId id="547" r:id="rId18"/>
    <p:sldId id="544" r:id="rId19"/>
    <p:sldId id="548" r:id="rId20"/>
    <p:sldId id="549" r:id="rId21"/>
    <p:sldId id="550" r:id="rId22"/>
    <p:sldId id="317" r:id="rId23"/>
    <p:sldId id="51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27D316-D2E8-4D5C-BD9B-AE93C5741DBA}" type="datetimeFigureOut">
              <a:rPr lang="en-IN" smtClean="0"/>
              <a:t>04-01-2025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53E8EE-77A3-4B32-B238-48C627717915}" type="slidenum">
              <a:rPr lang="en-IN" smtClean="0"/>
              <a:t>‹#›</a:t>
            </a:fld>
            <a:endParaRPr lang="en-IN"/>
          </a:p>
        </p:txBody>
      </p:sp>
    </p:spTree>
    <p:extLst>
      <p:ext uri="{BB962C8B-B14F-4D97-AF65-F5344CB8AC3E}">
        <p14:creationId xmlns:p14="http://schemas.microsoft.com/office/powerpoint/2010/main" val="421937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E058B5AA-B56C-CB2A-B007-E56D1CD93E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8B8443D7-4CF9-7094-2BCA-4BE502C7D7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5A185987-933F-739E-87C3-5AC6CBE0C7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7F27113-3089-4FA4-A406-F8FA742C5C75}"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21160B20-98E7-285D-2529-B6FA800E93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356A7FC0-30F8-6FD5-09A9-D978A0A128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a:extLst>
              <a:ext uri="{FF2B5EF4-FFF2-40B4-BE49-F238E27FC236}">
                <a16:creationId xmlns:a16="http://schemas.microsoft.com/office/drawing/2014/main" id="{FBE968CF-69FE-359F-2BB7-CDC04DFDEF1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B4BD632-E2F8-41EC-8315-8733B3DA607D}" type="slidenum">
              <a:rPr lang="en-US" altLang="en-US" smtClean="0"/>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ABE82689-B91B-B9B9-F1A7-72E7D4DC24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685143A4-47ED-9BDE-D8AC-C98286768E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508437DE-3285-4F6C-0109-3DA577A875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602DBB8-19FC-462B-ACFD-6962BA02E0DC}" type="slidenum">
              <a:rPr lang="en-US" altLang="en-US" smtClean="0"/>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296D6034-2F2F-E10B-05E8-FFE40E5673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AEFC7753-C8D2-DF99-7DD0-333EEBDC31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7652" name="Slide Number Placeholder 3">
            <a:extLst>
              <a:ext uri="{FF2B5EF4-FFF2-40B4-BE49-F238E27FC236}">
                <a16:creationId xmlns:a16="http://schemas.microsoft.com/office/drawing/2014/main" id="{F2F5F814-5033-8ED4-F2D0-82ECB359A0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E642599-9328-4DBA-B71A-D5DD13E29E3D}" type="slidenum">
              <a:rPr lang="en-US" altLang="en-US" smtClean="0"/>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D6C246FD-794D-06A1-37B6-79B9DD3EC0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4959E976-76A4-507F-1EF8-41E9AFB9AF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45D8267-52CD-5E1A-9F8C-EA43E56EE7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7A44E45-95AC-48B8-BDC5-21A0CDE941E7}" type="slidenum">
              <a:rPr lang="en-US" altLang="en-US" smtClean="0"/>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0AD6F118-0FDF-4C35-533B-21D0126512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956E2426-32AB-A777-342A-8F22C1640F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1748" name="Slide Number Placeholder 3">
            <a:extLst>
              <a:ext uri="{FF2B5EF4-FFF2-40B4-BE49-F238E27FC236}">
                <a16:creationId xmlns:a16="http://schemas.microsoft.com/office/drawing/2014/main" id="{777A5976-8A3C-8964-D74B-947DAF8211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7BE3B17-FDFC-4196-9A81-C9E77145B372}" type="slidenum">
              <a:rPr lang="en-US" altLang="en-US" smtClean="0"/>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584C65E9-C157-45F6-F066-7BA248E480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00C19EA9-FFEE-7A86-9BFE-E2DBA77AB2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3796" name="Slide Number Placeholder 3">
            <a:extLst>
              <a:ext uri="{FF2B5EF4-FFF2-40B4-BE49-F238E27FC236}">
                <a16:creationId xmlns:a16="http://schemas.microsoft.com/office/drawing/2014/main" id="{9AFA1328-854D-5DA7-E71C-70AAF6F63F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F0D8622-9D5A-4D1C-9F71-9E7F95EA63B6}" type="slidenum">
              <a:rPr lang="en-US" altLang="en-US" smtClean="0"/>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6D5943A7-C734-C58B-5B34-9831C952CD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CD7D8425-CF99-A8FC-90B1-39B974B193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5844" name="Slide Number Placeholder 3">
            <a:extLst>
              <a:ext uri="{FF2B5EF4-FFF2-40B4-BE49-F238E27FC236}">
                <a16:creationId xmlns:a16="http://schemas.microsoft.com/office/drawing/2014/main" id="{7DDECE3B-AE76-2FD4-488C-26210A622E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B63C106-BE72-4C8A-A858-04D3890547CB}" type="slidenum">
              <a:rPr lang="en-US" altLang="en-US" smtClean="0"/>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8AD9EE18-3A87-1083-55B5-F1F28A04B3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2FFAA536-C36D-C735-C262-B1FE68CC82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7892" name="Slide Number Placeholder 3">
            <a:extLst>
              <a:ext uri="{FF2B5EF4-FFF2-40B4-BE49-F238E27FC236}">
                <a16:creationId xmlns:a16="http://schemas.microsoft.com/office/drawing/2014/main" id="{CC89F2BF-2B39-796C-4C91-FBE1C77D92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C0A541B-2DBD-4A6B-AC95-12DBA94F6508}" type="slidenum">
              <a:rPr lang="en-US" altLang="en-US" smtClean="0"/>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DF1E2B40-EA38-BE54-BFA3-EF68382BFE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D453C59D-91D0-413E-D113-CCECC9358A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9940" name="Slide Number Placeholder 3">
            <a:extLst>
              <a:ext uri="{FF2B5EF4-FFF2-40B4-BE49-F238E27FC236}">
                <a16:creationId xmlns:a16="http://schemas.microsoft.com/office/drawing/2014/main" id="{7A0E2057-7B06-149A-611E-EBC7700F4E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9CBC367-04C6-426B-8CA4-23D84362345A}" type="slidenum">
              <a:rPr lang="en-US" altLang="en-US" smtClean="0"/>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7F8A0A0D-239E-92DB-0E8A-F9F7379433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6F7EE7E7-C1DA-2476-67EE-A573B16AB2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4036" name="Slide Number Placeholder 3">
            <a:extLst>
              <a:ext uri="{FF2B5EF4-FFF2-40B4-BE49-F238E27FC236}">
                <a16:creationId xmlns:a16="http://schemas.microsoft.com/office/drawing/2014/main" id="{17588DAC-0DA5-DA22-A395-6A936A866F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ED5B414-B8E1-49A7-BDC5-32395E4FFF74}" type="slidenum">
              <a:rPr lang="en-US" altLang="en-US" smtClean="0"/>
              <a:pPr/>
              <a:t>14</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5D9F653E-A147-177D-1397-2A3E3E9B0D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F5200B6F-E0C5-722E-095E-9C408004D6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6084" name="Slide Number Placeholder 3">
            <a:extLst>
              <a:ext uri="{FF2B5EF4-FFF2-40B4-BE49-F238E27FC236}">
                <a16:creationId xmlns:a16="http://schemas.microsoft.com/office/drawing/2014/main" id="{0D0C0F8C-CEE5-8AC8-D049-6110068D90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54BE8A0-9FB2-4235-8236-C0BD4D661105}" type="slidenum">
              <a:rPr lang="en-US" altLang="en-US" smtClean="0"/>
              <a:pPr/>
              <a:t>15</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35D4A604-BA12-7468-AE0E-6A2E68B6FA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CAB78E1-749E-4866-9A96-32FF6DC7941D}" type="slidenum">
              <a:rPr lang="en-US" altLang="en-US" smtClean="0">
                <a:latin typeface="Arial" panose="020B0604020202020204" pitchFamily="34" charset="0"/>
              </a:rPr>
              <a:pPr>
                <a:spcBef>
                  <a:spcPct val="0"/>
                </a:spcBef>
              </a:pPr>
              <a:t>23</a:t>
            </a:fld>
            <a:endParaRPr lang="en-US" altLang="en-US">
              <a:latin typeface="Arial" panose="020B0604020202020204" pitchFamily="34" charset="0"/>
            </a:endParaRPr>
          </a:p>
        </p:txBody>
      </p:sp>
      <p:sp>
        <p:nvSpPr>
          <p:cNvPr id="65539" name="Rectangle 7">
            <a:extLst>
              <a:ext uri="{FF2B5EF4-FFF2-40B4-BE49-F238E27FC236}">
                <a16:creationId xmlns:a16="http://schemas.microsoft.com/office/drawing/2014/main" id="{A9F22F36-F6C8-1C3E-2A43-2496770C41F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DE8BEB57-0115-4B6F-B709-9B0ADC330946}" type="slidenum">
              <a:rPr lang="en-US" altLang="en-US">
                <a:latin typeface="Arial" panose="020B0604020202020204" pitchFamily="34" charset="0"/>
              </a:rPr>
              <a:pPr algn="r" eaLnBrk="1" hangingPunct="1">
                <a:spcBef>
                  <a:spcPct val="0"/>
                </a:spcBef>
              </a:pPr>
              <a:t>23</a:t>
            </a:fld>
            <a:endParaRPr lang="en-US" altLang="en-US">
              <a:latin typeface="Arial" panose="020B0604020202020204" pitchFamily="34" charset="0"/>
            </a:endParaRPr>
          </a:p>
        </p:txBody>
      </p:sp>
      <p:sp>
        <p:nvSpPr>
          <p:cNvPr id="65540" name="Rectangle 2">
            <a:extLst>
              <a:ext uri="{FF2B5EF4-FFF2-40B4-BE49-F238E27FC236}">
                <a16:creationId xmlns:a16="http://schemas.microsoft.com/office/drawing/2014/main" id="{51891E15-5D67-AAE8-792F-6B4E4A8486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1" name="Rectangle 3">
            <a:extLst>
              <a:ext uri="{FF2B5EF4-FFF2-40B4-BE49-F238E27FC236}">
                <a16:creationId xmlns:a16="http://schemas.microsoft.com/office/drawing/2014/main" id="{69A99F16-97C2-EC2D-6A7D-4E2AADEF1A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C0A2-6B3E-C6FC-EB74-90FB870FDF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2545819-0C7E-89DD-B32D-96CD53B532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9C2BF4-D955-5353-ABCD-7EFD505A3D6D}"/>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32654D00-8ECD-2AE1-BE01-9146096D14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A52BEC-DD42-4EC6-893F-703A2F37D183}"/>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3156045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3EFA-61FE-7D69-01B5-5052F67120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27BD3B-FAA2-BBDF-1B6C-FC5925D39B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B23DAE-2324-E041-8B2D-2BC272DFC121}"/>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2856B726-B441-2815-66BE-9E97B867C6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3484FA-8260-EEFB-4CAB-30D0B4657070}"/>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309771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A8F9-2B8C-B084-D860-0B3BFD6FA6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66CF33-2A63-1101-4A46-E689CC6C8A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2E4D8-9833-036C-0C76-853BC3C3E701}"/>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CEB6D6BB-9B83-F34F-962D-3736D3C5FE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CDFB5A-4F4A-19AC-1237-0E14012B771F}"/>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3619284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C3A8-EE5D-8773-E85D-6974E77F32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1E0E86-C4B7-9230-2F53-90D9D5CF26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B90EE7-4015-DF93-C2D8-AC8179DF6A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B949E2-66DA-3C8C-658F-F474CCE7DD99}"/>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6" name="Footer Placeholder 5">
            <a:extLst>
              <a:ext uri="{FF2B5EF4-FFF2-40B4-BE49-F238E27FC236}">
                <a16:creationId xmlns:a16="http://schemas.microsoft.com/office/drawing/2014/main" id="{155E4887-8F16-B8BC-0149-F899E075FF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656704-2E57-6836-DAE9-6325D82BE038}"/>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245196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8CA1-4799-3D0E-4C82-4175B2B45C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D38D03-9B0F-737F-C8BA-8A07AC50A9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C4FE86-9E87-40CD-B788-2B98E7A5B9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9EE504-43BA-F60D-F081-A41FF087F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0E5A7F-C0AE-06F8-7DEE-060FA6B1A4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808F-AEE7-D12B-0EF9-7734BF792144}"/>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8" name="Footer Placeholder 7">
            <a:extLst>
              <a:ext uri="{FF2B5EF4-FFF2-40B4-BE49-F238E27FC236}">
                <a16:creationId xmlns:a16="http://schemas.microsoft.com/office/drawing/2014/main" id="{6695FE14-460F-1015-7CDC-100020F35E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FB760-8056-3E18-E08A-F9BB36490500}"/>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179342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B5DF-3844-E024-4E7B-21C472184C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C79E3B-BA43-57CE-E80E-F0CD7C4AE0A1}"/>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4" name="Footer Placeholder 3">
            <a:extLst>
              <a:ext uri="{FF2B5EF4-FFF2-40B4-BE49-F238E27FC236}">
                <a16:creationId xmlns:a16="http://schemas.microsoft.com/office/drawing/2014/main" id="{B4BBD7BC-BFDA-7218-5379-5E82FC63D0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5988C0-949E-9D99-418C-BE8A74B474CA}"/>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2375300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C2AEF7-AD02-B695-8737-633D07838765}"/>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3" name="Footer Placeholder 2">
            <a:extLst>
              <a:ext uri="{FF2B5EF4-FFF2-40B4-BE49-F238E27FC236}">
                <a16:creationId xmlns:a16="http://schemas.microsoft.com/office/drawing/2014/main" id="{C427FEAB-CF33-E9ED-4BC3-7989F29D86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29DFE0-7A0A-DD53-F42E-02FA7B5E98A4}"/>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375956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FA9A-D9F0-D1BC-191F-4E013A412E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6E30D9-97AA-403A-E988-487B857CF8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C81A34-07D0-3EA8-641C-8BF746C039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5A0-F167-CA91-F5DD-4E65FB40D23B}"/>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6" name="Footer Placeholder 5">
            <a:extLst>
              <a:ext uri="{FF2B5EF4-FFF2-40B4-BE49-F238E27FC236}">
                <a16:creationId xmlns:a16="http://schemas.microsoft.com/office/drawing/2014/main" id="{2F241179-F4E7-FC67-CFB5-7167379F9A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9F8EC7-C150-0533-81ED-BD7D9A4C42EA}"/>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230237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C54C2-442A-CCB2-6F05-3D6DE49A38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1CF737-D986-BEF1-22CA-A3A70A1E4C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02CF07-EF75-A3B0-DC98-C25B3EBB73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72086-E5ED-1857-262E-1204DD4BD693}"/>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6" name="Footer Placeholder 5">
            <a:extLst>
              <a:ext uri="{FF2B5EF4-FFF2-40B4-BE49-F238E27FC236}">
                <a16:creationId xmlns:a16="http://schemas.microsoft.com/office/drawing/2014/main" id="{6F518787-3E5F-9282-BDC7-8CCBD5FFD9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F3A2F0-50A6-E5A5-BA41-7C430B1CCE24}"/>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656809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98D6-58E1-C3CC-DA18-58C7998EEF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5862C1-0839-2965-D55C-2DDE8661A2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F5A2CD-2B5C-6AC1-6F14-11715FEBE07A}"/>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7505520B-73EF-B293-E5A3-3BC2DC02D5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9734DD-F060-0483-00B6-7520C6B9452C}"/>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158047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DD5FA-406F-2498-ACED-90E77131FC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7CA0A8-7E57-D5F3-551E-C1F35CA0DC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E050A5-251F-DCDA-D568-16083C7DB69A}"/>
              </a:ext>
            </a:extLst>
          </p:cNvPr>
          <p:cNvSpPr>
            <a:spLocks noGrp="1"/>
          </p:cNvSpPr>
          <p:nvPr>
            <p:ph type="dt" sz="half" idx="10"/>
          </p:nvPr>
        </p:nvSpPr>
        <p:spPr/>
        <p:txBody>
          <a:body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D5E4290C-A258-97DF-DE24-898BAEC390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8B084C-A8D1-8ACE-B44E-CA02CDBEACF1}"/>
              </a:ext>
            </a:extLst>
          </p:cNvPr>
          <p:cNvSpPr>
            <a:spLocks noGrp="1"/>
          </p:cNvSpPr>
          <p:nvPr>
            <p:ph type="sldNum" sz="quarter" idx="12"/>
          </p:nvPr>
        </p:nvSpPr>
        <p:spPr/>
        <p:txBody>
          <a:bodyPr/>
          <a:lstStyle/>
          <a:p>
            <a:fld id="{E4AC6272-39FB-4780-A7F2-D261450C116E}" type="slidenum">
              <a:rPr lang="en-IN" smtClean="0"/>
              <a:t>‹#›</a:t>
            </a:fld>
            <a:endParaRPr lang="en-IN"/>
          </a:p>
        </p:txBody>
      </p:sp>
    </p:spTree>
    <p:extLst>
      <p:ext uri="{BB962C8B-B14F-4D97-AF65-F5344CB8AC3E}">
        <p14:creationId xmlns:p14="http://schemas.microsoft.com/office/powerpoint/2010/main" val="3547886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5802F-9F98-D0B7-C225-A776905EF9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8DE7E7-4037-0F43-5B66-445CFA34D4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F30E6C-4A99-7CAC-C218-4FD3176A21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F9212F-B79D-4458-BAD0-090D62F61AE4}" type="datetimeFigureOut">
              <a:rPr lang="en-IN" smtClean="0"/>
              <a:t>04-01-2025</a:t>
            </a:fld>
            <a:endParaRPr lang="en-IN"/>
          </a:p>
        </p:txBody>
      </p:sp>
      <p:sp>
        <p:nvSpPr>
          <p:cNvPr id="5" name="Footer Placeholder 4">
            <a:extLst>
              <a:ext uri="{FF2B5EF4-FFF2-40B4-BE49-F238E27FC236}">
                <a16:creationId xmlns:a16="http://schemas.microsoft.com/office/drawing/2014/main" id="{3EE1FC63-C4D9-E206-F28D-6ABC834DB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3F7AFA-3960-0CC4-0E61-1BDB665C1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AC6272-39FB-4780-A7F2-D261450C116E}" type="slidenum">
              <a:rPr lang="en-IN" smtClean="0"/>
              <a:t>‹#›</a:t>
            </a:fld>
            <a:endParaRPr lang="en-IN"/>
          </a:p>
        </p:txBody>
      </p:sp>
    </p:spTree>
    <p:extLst>
      <p:ext uri="{BB962C8B-B14F-4D97-AF65-F5344CB8AC3E}">
        <p14:creationId xmlns:p14="http://schemas.microsoft.com/office/powerpoint/2010/main" val="4007347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4.png"/><Relationship Id="rId7"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2.jpe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4">
            <a:extLst>
              <a:ext uri="{FF2B5EF4-FFF2-40B4-BE49-F238E27FC236}">
                <a16:creationId xmlns:a16="http://schemas.microsoft.com/office/drawing/2014/main" id="{7E4D2739-0FFF-B0FC-988E-F4E61A276166}"/>
              </a:ext>
            </a:extLst>
          </p:cNvPr>
          <p:cNvSpPr>
            <a:spLocks noGrp="1"/>
          </p:cNvSpPr>
          <p:nvPr>
            <p:ph type="title"/>
          </p:nvPr>
        </p:nvSpPr>
        <p:spPr>
          <a:xfrm>
            <a:off x="2301081" y="1733584"/>
            <a:ext cx="7589837" cy="5327650"/>
          </a:xfrm>
        </p:spPr>
        <p:txBody>
          <a:bodyPr/>
          <a:lstStyle/>
          <a:p>
            <a:pPr algn="ctr"/>
            <a:r>
              <a:rPr lang="en-US" altLang="en-US" sz="2800" b="1" dirty="0">
                <a:latin typeface="CMBX12"/>
              </a:rPr>
              <a:t>Deploying and Improving existing AI/ML based Fault Classification and Fault</a:t>
            </a:r>
            <a:br>
              <a:rPr lang="en-US" altLang="en-US" sz="2800" b="1" dirty="0">
                <a:latin typeface="CMBX12"/>
              </a:rPr>
            </a:br>
            <a:r>
              <a:rPr lang="en-US" altLang="en-US" sz="2800" b="1" dirty="0">
                <a:latin typeface="CMBX12"/>
              </a:rPr>
              <a:t>Location Detection Algorithms of Transmission Lines on Edge Devices</a:t>
            </a:r>
            <a:br>
              <a:rPr lang="en-US" altLang="en-US" sz="2000" dirty="0">
                <a:latin typeface="Sons Condensed Extrabold" panose="02060906060206060203" pitchFamily="18" charset="0"/>
              </a:rPr>
            </a:br>
            <a:r>
              <a:rPr lang="en-US" altLang="en-US" sz="2800" dirty="0">
                <a:latin typeface="Arial" panose="020B0604020202020204" pitchFamily="34" charset="0"/>
                <a:cs typeface="Arial" panose="020B0604020202020204" pitchFamily="34" charset="0"/>
              </a:rPr>
              <a:t> 			</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Sai Rishik Thakkallapally</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			20MCME05</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			Sudhanshu Mishra</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			Mridula Verma </a:t>
            </a:r>
            <a:br>
              <a:rPr lang="en-US" altLang="en-US" sz="2400" dirty="0">
                <a:latin typeface="Arial" panose="020B0604020202020204" pitchFamily="34" charset="0"/>
                <a:cs typeface="Arial" panose="020B0604020202020204" pitchFamily="34" charset="0"/>
              </a:rPr>
            </a:br>
            <a:br>
              <a:rPr lang="en-US" altLang="en-US" sz="2400"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School of Computer and Information Sciences</a:t>
            </a:r>
            <a:br>
              <a:rPr lang="en-US" altLang="en-US" sz="2800" dirty="0">
                <a:latin typeface="Arial" panose="020B0604020202020204" pitchFamily="34" charset="0"/>
                <a:cs typeface="Arial" panose="020B0604020202020204" pitchFamily="34" charset="0"/>
              </a:rPr>
            </a:br>
            <a:endParaRPr lang="en-US" altLang="en-US" sz="2800" dirty="0">
              <a:latin typeface="Arial" panose="020B0604020202020204" pitchFamily="34" charset="0"/>
              <a:cs typeface="Arial" panose="020B0604020202020204" pitchFamily="34" charset="0"/>
            </a:endParaRPr>
          </a:p>
        </p:txBody>
      </p:sp>
      <p:pic>
        <p:nvPicPr>
          <p:cNvPr id="4" name="Picture 8" descr="Institution of Eminence Logo unveiled |">
            <a:extLst>
              <a:ext uri="{FF2B5EF4-FFF2-40B4-BE49-F238E27FC236}">
                <a16:creationId xmlns:a16="http://schemas.microsoft.com/office/drawing/2014/main" id="{2AF430E9-A305-E9ED-1EF1-60376ABB0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University of Hyderabad, India">
            <a:extLst>
              <a:ext uri="{FF2B5EF4-FFF2-40B4-BE49-F238E27FC236}">
                <a16:creationId xmlns:a16="http://schemas.microsoft.com/office/drawing/2014/main" id="{8E398895-7399-AC36-9288-6B8E7C962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D5802FA-3A47-8AFE-6C7C-CE31348E4FAB}"/>
              </a:ext>
            </a:extLst>
          </p:cNvPr>
          <p:cNvSpPr>
            <a:spLocks noGrp="1"/>
          </p:cNvSpPr>
          <p:nvPr>
            <p:ph type="title"/>
          </p:nvPr>
        </p:nvSpPr>
        <p:spPr>
          <a:xfrm>
            <a:off x="3426539" y="482155"/>
            <a:ext cx="6311140" cy="1295467"/>
          </a:xfrm>
        </p:spPr>
        <p:txBody>
          <a:bodyPr>
            <a:normAutofit/>
          </a:bodyPr>
          <a:lstStyle/>
          <a:p>
            <a:pPr eaLnBrk="1" hangingPunct="1"/>
            <a:r>
              <a:rPr lang="en-US" altLang="en-US" sz="3200" b="1" dirty="0"/>
              <a:t>About the company (for intern students only)</a:t>
            </a:r>
            <a:endParaRPr lang="en-IN" altLang="en-US" sz="3200" b="1" dirty="0"/>
          </a:p>
        </p:txBody>
      </p:sp>
      <p:sp>
        <p:nvSpPr>
          <p:cNvPr id="22531" name="TextBox 1">
            <a:extLst>
              <a:ext uri="{FF2B5EF4-FFF2-40B4-BE49-F238E27FC236}">
                <a16:creationId xmlns:a16="http://schemas.microsoft.com/office/drawing/2014/main" id="{65AF852B-7378-5345-FA0F-7F372DC41B81}"/>
              </a:ext>
            </a:extLst>
          </p:cNvPr>
          <p:cNvSpPr txBox="1">
            <a:spLocks noChangeArrowheads="1"/>
          </p:cNvSpPr>
          <p:nvPr/>
        </p:nvSpPr>
        <p:spPr bwMode="auto">
          <a:xfrm>
            <a:off x="1539827" y="2568910"/>
            <a:ext cx="942354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en-US" sz="2400" dirty="0"/>
              <a:t>Ge Grid Automation operates as part of General Electric , a multinational conglomerate is a product-based company which involves the application of advanced technologies to enhance the efficiency , reliability and performance of electrical grids. This includes solutions for smart grid management , substation automation and grid control systems. The goal is to optimize the operation of power systems, improves fault detection and enable better integration of renewable energy sources.</a:t>
            </a:r>
          </a:p>
        </p:txBody>
      </p:sp>
      <p:pic>
        <p:nvPicPr>
          <p:cNvPr id="7" name="Picture 8" descr="Institution of Eminence Logo unveiled |">
            <a:extLst>
              <a:ext uri="{FF2B5EF4-FFF2-40B4-BE49-F238E27FC236}">
                <a16:creationId xmlns:a16="http://schemas.microsoft.com/office/drawing/2014/main" id="{FF713025-8495-28BE-6A8A-88089D81A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1529" y="100583"/>
            <a:ext cx="945822" cy="13817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niversity of Hyderabad, India">
            <a:extLst>
              <a:ext uri="{FF2B5EF4-FFF2-40B4-BE49-F238E27FC236}">
                <a16:creationId xmlns:a16="http://schemas.microsoft.com/office/drawing/2014/main" id="{9FDA9B2F-652A-B876-C5F3-E8D210748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5790EF32-9F1A-2C51-8B35-33B221DA3594}"/>
              </a:ext>
            </a:extLst>
          </p:cNvPr>
          <p:cNvSpPr>
            <a:spLocks noGrp="1"/>
          </p:cNvSpPr>
          <p:nvPr>
            <p:ph type="title"/>
          </p:nvPr>
        </p:nvSpPr>
        <p:spPr>
          <a:xfrm>
            <a:off x="3712901" y="579946"/>
            <a:ext cx="5167148" cy="1211147"/>
          </a:xfrm>
        </p:spPr>
        <p:txBody>
          <a:bodyPr/>
          <a:lstStyle/>
          <a:p>
            <a:pPr eaLnBrk="1" hangingPunct="1"/>
            <a:r>
              <a:rPr lang="en-US" altLang="en-US" sz="3200" b="1" dirty="0"/>
              <a:t>Research Objectives</a:t>
            </a:r>
            <a:endParaRPr lang="en-IN" altLang="en-US" sz="3200" b="1" dirty="0"/>
          </a:p>
        </p:txBody>
      </p:sp>
      <p:sp>
        <p:nvSpPr>
          <p:cNvPr id="24579" name="TextBox 1">
            <a:extLst>
              <a:ext uri="{FF2B5EF4-FFF2-40B4-BE49-F238E27FC236}">
                <a16:creationId xmlns:a16="http://schemas.microsoft.com/office/drawing/2014/main" id="{A3A908E8-9DBC-9658-A3D0-763E3E9F6699}"/>
              </a:ext>
            </a:extLst>
          </p:cNvPr>
          <p:cNvSpPr txBox="1">
            <a:spLocks noChangeArrowheads="1"/>
          </p:cNvSpPr>
          <p:nvPr/>
        </p:nvSpPr>
        <p:spPr bwMode="auto">
          <a:xfrm>
            <a:off x="1318963" y="2118241"/>
            <a:ext cx="9117750" cy="473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a:lnSpc>
                <a:spcPct val="100000"/>
              </a:lnSpc>
              <a:spcBef>
                <a:spcPct val="0"/>
              </a:spcBef>
              <a:buFont typeface="+mj-lt"/>
              <a:buAutoNum type="arabicPeriod"/>
            </a:pPr>
            <a:r>
              <a:rPr lang="en-US" altLang="en-US" sz="2200" dirty="0"/>
              <a:t>Deploying existing AI/ML based Fault Classification and Fault Location Models on Edge Devices</a:t>
            </a:r>
          </a:p>
          <a:p>
            <a:pPr marL="914400" lvl="1" indent="-457200">
              <a:lnSpc>
                <a:spcPct val="100000"/>
              </a:lnSpc>
              <a:spcBef>
                <a:spcPct val="0"/>
              </a:spcBef>
              <a:buFont typeface="+mj-lt"/>
              <a:buAutoNum type="alphaLcParenR"/>
            </a:pPr>
            <a:r>
              <a:rPr lang="en-US" altLang="en-US" sz="2000" dirty="0"/>
              <a:t>To convert a Tensorflow Model for Fault Classification and Location into Tensorflow Lite and validate its performance and accuracy using Python based inference.</a:t>
            </a:r>
          </a:p>
          <a:p>
            <a:pPr marL="914400" lvl="1" indent="-457200">
              <a:lnSpc>
                <a:spcPct val="100000"/>
              </a:lnSpc>
              <a:spcBef>
                <a:spcPct val="0"/>
              </a:spcBef>
              <a:buFont typeface="+mj-lt"/>
              <a:buAutoNum type="alphaLcParenR"/>
            </a:pPr>
            <a:r>
              <a:rPr lang="en-US" altLang="en-US" sz="2000" dirty="0"/>
              <a:t>To implement and optimize Tensorflow Lite model inference in C and C++ for windows environments, including the generation of dynamic link libraries (DLL’s) for efficient deployment.</a:t>
            </a:r>
          </a:p>
          <a:p>
            <a:pPr marL="914400" lvl="1" indent="-457200">
              <a:lnSpc>
                <a:spcPct val="100000"/>
              </a:lnSpc>
              <a:spcBef>
                <a:spcPct val="0"/>
              </a:spcBef>
              <a:buFont typeface="+mj-lt"/>
              <a:buAutoNum type="alphaLcParenR"/>
            </a:pPr>
            <a:r>
              <a:rPr lang="en-US" altLang="en-US" sz="2000" dirty="0"/>
              <a:t>To cross compile and generate shared object files (.so) for deploying the Tensorflow Lite model on ARM-based machines, ensuring compatibility.</a:t>
            </a:r>
          </a:p>
          <a:p>
            <a:pPr marL="914400" lvl="1" indent="-457200">
              <a:lnSpc>
                <a:spcPct val="100000"/>
              </a:lnSpc>
              <a:spcBef>
                <a:spcPct val="0"/>
              </a:spcBef>
              <a:buFont typeface="+mj-lt"/>
              <a:buAutoNum type="alphaLcParenR"/>
            </a:pPr>
            <a:r>
              <a:rPr lang="en-US" altLang="en-US" sz="2000" dirty="0"/>
              <a:t>Evaluate the Tensorflow Lite model on real data, based on the results. Fine-tune the model as per the requirements.</a:t>
            </a:r>
          </a:p>
          <a:p>
            <a:pPr marL="914400" lvl="1" indent="-457200">
              <a:lnSpc>
                <a:spcPct val="100000"/>
              </a:lnSpc>
              <a:spcBef>
                <a:spcPct val="0"/>
              </a:spcBef>
              <a:buFont typeface="+mj-lt"/>
              <a:buAutoNum type="alphaLcParenR"/>
            </a:pPr>
            <a:r>
              <a:rPr lang="en-US" altLang="en-US" sz="2000" dirty="0"/>
              <a:t>Compare the AI/ML models with existing physics-based methods.</a:t>
            </a:r>
          </a:p>
          <a:p>
            <a:pPr marL="914400" lvl="1" indent="-457200">
              <a:lnSpc>
                <a:spcPct val="100000"/>
              </a:lnSpc>
              <a:spcBef>
                <a:spcPct val="0"/>
              </a:spcBef>
              <a:buFont typeface="+mj-lt"/>
              <a:buAutoNum type="alphaLcParenR"/>
            </a:pPr>
            <a:endParaRPr lang="en-US" altLang="en-US" sz="2000" dirty="0"/>
          </a:p>
          <a:p>
            <a:pPr marL="914400" lvl="1" indent="-457200">
              <a:lnSpc>
                <a:spcPct val="100000"/>
              </a:lnSpc>
              <a:spcBef>
                <a:spcPct val="0"/>
              </a:spcBef>
              <a:buFont typeface="+mj-lt"/>
              <a:buAutoNum type="alphaLcParenR"/>
            </a:pPr>
            <a:endParaRPr lang="en-US" altLang="en-US" sz="1800" dirty="0"/>
          </a:p>
        </p:txBody>
      </p:sp>
      <p:pic>
        <p:nvPicPr>
          <p:cNvPr id="4" name="Picture 8" descr="Institution of Eminence Logo unveiled |">
            <a:extLst>
              <a:ext uri="{FF2B5EF4-FFF2-40B4-BE49-F238E27FC236}">
                <a16:creationId xmlns:a16="http://schemas.microsoft.com/office/drawing/2014/main" id="{54E5B99B-2579-B2CF-66AB-E33A77090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University of Hyderabad, India">
            <a:extLst>
              <a:ext uri="{FF2B5EF4-FFF2-40B4-BE49-F238E27FC236}">
                <a16:creationId xmlns:a16="http://schemas.microsoft.com/office/drawing/2014/main" id="{DE5111F7-9E82-B981-A7E4-0E22820ADB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B9F566F-C7A1-E797-9335-4B70690512CE}"/>
              </a:ext>
            </a:extLst>
          </p:cNvPr>
          <p:cNvSpPr>
            <a:spLocks noGrp="1"/>
          </p:cNvSpPr>
          <p:nvPr>
            <p:ph type="title"/>
          </p:nvPr>
        </p:nvSpPr>
        <p:spPr>
          <a:xfrm>
            <a:off x="4297364" y="476251"/>
            <a:ext cx="4175125" cy="677863"/>
          </a:xfrm>
        </p:spPr>
        <p:txBody>
          <a:bodyPr/>
          <a:lstStyle/>
          <a:p>
            <a:pPr eaLnBrk="1" hangingPunct="1"/>
            <a:r>
              <a:rPr lang="en-US" altLang="en-US" sz="3600" b="1"/>
              <a:t>Problem Statement</a:t>
            </a:r>
          </a:p>
        </p:txBody>
      </p:sp>
      <p:sp>
        <p:nvSpPr>
          <p:cNvPr id="26627" name="TextBox 3">
            <a:extLst>
              <a:ext uri="{FF2B5EF4-FFF2-40B4-BE49-F238E27FC236}">
                <a16:creationId xmlns:a16="http://schemas.microsoft.com/office/drawing/2014/main" id="{240716AE-6E1D-FE30-8876-37D241B19107}"/>
              </a:ext>
            </a:extLst>
          </p:cNvPr>
          <p:cNvSpPr txBox="1">
            <a:spLocks noChangeArrowheads="1"/>
          </p:cNvSpPr>
          <p:nvPr/>
        </p:nvSpPr>
        <p:spPr bwMode="auto">
          <a:xfrm>
            <a:off x="838986" y="2205872"/>
            <a:ext cx="10878531" cy="3816429"/>
          </a:xfrm>
          <a:prstGeom prst="rect">
            <a:avLst/>
          </a:prstGeom>
          <a:noFill/>
          <a:ln>
            <a:noFill/>
          </a:ln>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2200" dirty="0"/>
              <a:t>The detection, classification, and localization of faults in long transmission lines are vital tasks for ensuring the reliability and stability of power systems. Transmission lines are highly susceptible to faults due to environmental conditions, equipment failures, and other unforeseen events, which can result in significant disruptions or even system collapse in severe cases. Hence, it is essential to monitor and address faults effectively to maintain the safe and continuous operation of the power system. While traditional physics-based techniques for fault detection, classification, and localization have been widely used, advancements in artificial intelligence and machine learning (AI/ML) present an opportunity to enhance these methods. AI/ML algorithms can complement existing techniques by improving the accuracy, speed, and adaptability of fault monitoring and protection schemes, thereby increasing the security and dependability of the power system.</a:t>
            </a:r>
            <a:endParaRPr lang="en-US" altLang="en-US" sz="2200" dirty="0">
              <a:latin typeface="+mn-lt"/>
            </a:endParaRPr>
          </a:p>
        </p:txBody>
      </p:sp>
      <p:pic>
        <p:nvPicPr>
          <p:cNvPr id="4" name="Picture 8" descr="Institution of Eminence Logo unveiled |">
            <a:extLst>
              <a:ext uri="{FF2B5EF4-FFF2-40B4-BE49-F238E27FC236}">
                <a16:creationId xmlns:a16="http://schemas.microsoft.com/office/drawing/2014/main" id="{05960445-7668-43CF-BF32-96566EEE7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University of Hyderabad, India">
            <a:extLst>
              <a:ext uri="{FF2B5EF4-FFF2-40B4-BE49-F238E27FC236}">
                <a16:creationId xmlns:a16="http://schemas.microsoft.com/office/drawing/2014/main" id="{B2C4E0B7-8051-6DB6-C057-4D82A4A8A8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2E32680-F2F6-A4CB-7162-EAA9CC0A882D}"/>
              </a:ext>
            </a:extLst>
          </p:cNvPr>
          <p:cNvSpPr>
            <a:spLocks noGrp="1"/>
          </p:cNvSpPr>
          <p:nvPr>
            <p:ph type="title"/>
          </p:nvPr>
        </p:nvSpPr>
        <p:spPr bwMode="auto">
          <a:xfrm>
            <a:off x="3426539" y="702057"/>
            <a:ext cx="5988050" cy="85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3600" b="1" dirty="0"/>
              <a:t>    </a:t>
            </a:r>
            <a:r>
              <a:rPr altLang="en-US" sz="3600" b="1" dirty="0"/>
              <a:t>Power systems </a:t>
            </a:r>
            <a:r>
              <a:rPr lang="en-US" altLang="en-US" sz="3600" b="1" dirty="0"/>
              <a:t>I</a:t>
            </a:r>
            <a:r>
              <a:rPr altLang="en-US" sz="3600" b="1" dirty="0"/>
              <a:t>ntroduction </a:t>
            </a:r>
          </a:p>
        </p:txBody>
      </p:sp>
      <p:sp>
        <p:nvSpPr>
          <p:cNvPr id="28675" name="Content Placeholder 1">
            <a:extLst>
              <a:ext uri="{FF2B5EF4-FFF2-40B4-BE49-F238E27FC236}">
                <a16:creationId xmlns:a16="http://schemas.microsoft.com/office/drawing/2014/main" id="{14B513F0-56AC-94AF-289E-BA8664269B0E}"/>
              </a:ext>
            </a:extLst>
          </p:cNvPr>
          <p:cNvSpPr>
            <a:spLocks noGrp="1"/>
          </p:cNvSpPr>
          <p:nvPr>
            <p:ph idx="1"/>
          </p:nvPr>
        </p:nvSpPr>
        <p:spPr bwMode="auto">
          <a:xfrm>
            <a:off x="-570633" y="2245573"/>
            <a:ext cx="8370888" cy="4297363"/>
          </a:xfrm>
        </p:spPr>
        <p:txBody>
          <a:bodyPr vert="horz" wrap="square" lIns="91440" tIns="45720" rIns="91440" bIns="45720" numCol="1" rtlCol="0" anchor="t" anchorCtr="0" compatLnSpc="1">
            <a:prstTxWarp prst="textNoShape">
              <a:avLst/>
            </a:prstTxWarp>
            <a:normAutofit fontScale="55000" lnSpcReduction="20000"/>
          </a:bodyPr>
          <a:lstStyle/>
          <a:p>
            <a:pPr lvl="3">
              <a:defRPr/>
            </a:pPr>
            <a:r>
              <a:rPr lang="en-US" sz="3200" dirty="0">
                <a:cs typeface="Calibri" panose="020F0502020204030204" pitchFamily="34" charset="0"/>
              </a:rPr>
              <a:t>The power system is a network that converts energy from renewable and nonrenewable resources into electrical energy. </a:t>
            </a:r>
          </a:p>
          <a:p>
            <a:pPr lvl="3">
              <a:defRPr/>
            </a:pPr>
            <a:r>
              <a:rPr lang="en-US" sz="3200" dirty="0">
                <a:cs typeface="Calibri" panose="020F0502020204030204" pitchFamily="34" charset="0"/>
              </a:rPr>
              <a:t>It consists of three main components: Generation, Distribution, and Transmission systems.</a:t>
            </a:r>
          </a:p>
          <a:p>
            <a:pPr lvl="3">
              <a:defRPr/>
            </a:pPr>
            <a:r>
              <a:rPr lang="en-US" sz="3200" dirty="0">
                <a:cs typeface="Calibri" panose="020F0502020204030204" pitchFamily="34" charset="0"/>
              </a:rPr>
              <a:t>The devices connected to the power system include synchronous generators, motors, transformers, circuit breakers, conductors, and more.</a:t>
            </a:r>
          </a:p>
          <a:p>
            <a:pPr lvl="3">
              <a:defRPr/>
            </a:pPr>
            <a:r>
              <a:rPr lang="en-US" sz="3200" dirty="0">
                <a:cs typeface="Calibri" panose="020F0502020204030204" pitchFamily="34" charset="0"/>
              </a:rPr>
              <a:t>The power plant generates electricity, which is then transmitted through the transmission system.</a:t>
            </a:r>
          </a:p>
          <a:p>
            <a:pPr lvl="3">
              <a:defRPr/>
            </a:pPr>
            <a:r>
              <a:rPr lang="en-US" sz="3200" dirty="0">
                <a:cs typeface="Calibri" panose="020F0502020204030204" pitchFamily="34" charset="0"/>
              </a:rPr>
              <a:t>The transmission lines transfer the electricity to the substations, where it is distributed to the consumers through the distribution system. </a:t>
            </a:r>
          </a:p>
          <a:p>
            <a:pPr lvl="3">
              <a:defRPr/>
            </a:pPr>
            <a:r>
              <a:rPr lang="en-US" sz="3200" dirty="0">
                <a:cs typeface="Calibri" panose="020F0502020204030204" pitchFamily="34" charset="0"/>
              </a:rPr>
              <a:t>The six main components of the power system are the power plant, transformer, transmission line, substation, distribution line, and distribution transformer. </a:t>
            </a:r>
          </a:p>
          <a:p>
            <a:pPr lvl="3">
              <a:defRPr/>
            </a:pPr>
            <a:r>
              <a:rPr lang="en-US" sz="3200" dirty="0">
                <a:cs typeface="Calibri" panose="020F0502020204030204" pitchFamily="34" charset="0"/>
              </a:rPr>
              <a:t>This system is complex and can be subdivided into several subsystems, including the generating substation, transmission substation, and distribution substation</a:t>
            </a: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lvl="3">
              <a:defRPr/>
            </a:pPr>
            <a:endParaRPr lang="en-US" sz="3200" dirty="0">
              <a:cs typeface="Calibri" panose="020F0502020204030204" pitchFamily="34" charset="0"/>
            </a:endParaRPr>
          </a:p>
          <a:p>
            <a:pPr marL="1371600" lvl="3" indent="0">
              <a:buNone/>
              <a:defRPr/>
            </a:pPr>
            <a:endParaRPr lang="en-US" sz="3200" dirty="0">
              <a:cs typeface="Calibri" panose="020F0502020204030204" pitchFamily="34" charset="0"/>
            </a:endParaRPr>
          </a:p>
          <a:p>
            <a:pPr>
              <a:defRPr/>
            </a:pPr>
            <a:endParaRPr lang="en-IN" altLang="en-US" dirty="0"/>
          </a:p>
        </p:txBody>
      </p:sp>
      <p:pic>
        <p:nvPicPr>
          <p:cNvPr id="28676" name="Content Placeholder 6">
            <a:extLst>
              <a:ext uri="{FF2B5EF4-FFF2-40B4-BE49-F238E27FC236}">
                <a16:creationId xmlns:a16="http://schemas.microsoft.com/office/drawing/2014/main" id="{F3312D45-50F8-B7A4-7859-A43833F58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3308" y="2822255"/>
            <a:ext cx="4216933" cy="230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University of Hyderabad, India">
            <a:extLst>
              <a:ext uri="{FF2B5EF4-FFF2-40B4-BE49-F238E27FC236}">
                <a16:creationId xmlns:a16="http://schemas.microsoft.com/office/drawing/2014/main" id="{AB207720-BC16-D444-7E84-BB85BFB7B6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Institution of Eminence Logo unveiled |">
            <a:extLst>
              <a:ext uri="{FF2B5EF4-FFF2-40B4-BE49-F238E27FC236}">
                <a16:creationId xmlns:a16="http://schemas.microsoft.com/office/drawing/2014/main" id="{CD2D5409-2CED-0AD5-0329-21C58FE16C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449E9A2-726D-B5BD-C308-2688C199991F}"/>
              </a:ext>
            </a:extLst>
          </p:cNvPr>
          <p:cNvSpPr>
            <a:spLocks noGrp="1"/>
          </p:cNvSpPr>
          <p:nvPr>
            <p:ph type="title"/>
          </p:nvPr>
        </p:nvSpPr>
        <p:spPr bwMode="auto">
          <a:xfrm>
            <a:off x="3203575" y="269876"/>
            <a:ext cx="5988050" cy="855663"/>
          </a:xfrm>
        </p:spPr>
        <p:txBody>
          <a:bodyPr vert="horz" wrap="square" lIns="91440" tIns="45720" rIns="91440" bIns="45720" numCol="1" rtlCol="0" anchor="t" anchorCtr="0" compatLnSpc="1">
            <a:prstTxWarp prst="textNoShape">
              <a:avLst/>
            </a:prstTxWarp>
            <a:normAutofit/>
          </a:bodyPr>
          <a:lstStyle/>
          <a:p>
            <a:pPr eaLnBrk="1" hangingPunct="1">
              <a:defRPr/>
            </a:pPr>
            <a:r>
              <a:rPr altLang="en-US" sz="3600" b="1">
                <a:solidFill>
                  <a:schemeClr val="tx1">
                    <a:lumMod val="95000"/>
                    <a:lumOff val="5000"/>
                  </a:schemeClr>
                </a:solidFill>
              </a:rPr>
              <a:t>Structure of Power Systems</a:t>
            </a:r>
          </a:p>
        </p:txBody>
      </p:sp>
      <p:sp>
        <p:nvSpPr>
          <p:cNvPr id="2" name="Content Placeholder 4">
            <a:extLst>
              <a:ext uri="{FF2B5EF4-FFF2-40B4-BE49-F238E27FC236}">
                <a16:creationId xmlns:a16="http://schemas.microsoft.com/office/drawing/2014/main" id="{24DAB153-E0BD-E749-7F5B-C8C16F148CE7}"/>
              </a:ext>
            </a:extLst>
          </p:cNvPr>
          <p:cNvSpPr>
            <a:spLocks noGrp="1"/>
          </p:cNvSpPr>
          <p:nvPr>
            <p:ph idx="1"/>
          </p:nvPr>
        </p:nvSpPr>
        <p:spPr>
          <a:xfrm>
            <a:off x="735292" y="1593130"/>
            <a:ext cx="10850250" cy="4548909"/>
          </a:xfrm>
        </p:spPr>
        <p:txBody>
          <a:bodyPr>
            <a:normAutofit fontScale="85000" lnSpcReduction="10000"/>
          </a:bodyPr>
          <a:lstStyle/>
          <a:p>
            <a:pPr marL="0" indent="0">
              <a:buNone/>
              <a:defRPr/>
            </a:pPr>
            <a:r>
              <a:rPr lang="en-US" sz="2000" dirty="0">
                <a:solidFill>
                  <a:srgbClr val="222222"/>
                </a:solidFill>
              </a:rPr>
              <a:t>The power system is the complex enterprise that may be subdivided into the following sub-systems. The subsystems of the power system are as follows:-</a:t>
            </a:r>
          </a:p>
          <a:p>
            <a:pPr marL="457200" indent="-457200">
              <a:buAutoNum type="alphaLcParenR"/>
              <a:defRPr/>
            </a:pPr>
            <a:r>
              <a:rPr lang="en-US" sz="2000" dirty="0">
                <a:solidFill>
                  <a:srgbClr val="222222"/>
                </a:solidFill>
                <a:cs typeface="Calibri" panose="020F0502020204030204" pitchFamily="34" charset="0"/>
              </a:rPr>
              <a:t>Generating Substation</a:t>
            </a:r>
          </a:p>
          <a:p>
            <a:pPr marL="457200" indent="-457200">
              <a:buAutoNum type="alphaLcParenR"/>
              <a:defRPr/>
            </a:pPr>
            <a:r>
              <a:rPr lang="en-US" sz="2000" dirty="0">
                <a:solidFill>
                  <a:srgbClr val="111111"/>
                </a:solidFill>
                <a:cs typeface="Calibri" panose="020F0502020204030204" pitchFamily="34" charset="0"/>
              </a:rPr>
              <a:t>Transmission Substation</a:t>
            </a:r>
          </a:p>
          <a:p>
            <a:pPr marL="457200" indent="-457200">
              <a:buAutoNum type="alphaLcParenR"/>
              <a:defRPr/>
            </a:pPr>
            <a:r>
              <a:rPr lang="en-US" sz="2000" dirty="0">
                <a:solidFill>
                  <a:srgbClr val="111111"/>
                </a:solidFill>
                <a:cs typeface="Calibri" panose="020F0502020204030204" pitchFamily="34" charset="0"/>
              </a:rPr>
              <a:t>Sub-Transmission Substation</a:t>
            </a:r>
          </a:p>
          <a:p>
            <a:pPr marL="457200" indent="-457200">
              <a:buAutoNum type="alphaLcParenR"/>
              <a:defRPr/>
            </a:pPr>
            <a:r>
              <a:rPr lang="en-US" sz="2000" dirty="0">
                <a:solidFill>
                  <a:srgbClr val="111111"/>
                </a:solidFill>
                <a:cs typeface="Calibri" panose="020F0502020204030204" pitchFamily="34" charset="0"/>
              </a:rPr>
              <a:t>Distribution Substation</a:t>
            </a:r>
          </a:p>
          <a:p>
            <a:pPr marL="0" indent="0">
              <a:buNone/>
              <a:defRPr/>
            </a:pPr>
            <a:r>
              <a:rPr lang="en-US" sz="2000" dirty="0">
                <a:solidFill>
                  <a:srgbClr val="111111"/>
                </a:solidFill>
                <a:cs typeface="Calibri" panose="020F0502020204030204" pitchFamily="34" charset="0"/>
              </a:rPr>
              <a:t>Transmission Substation:</a:t>
            </a:r>
          </a:p>
          <a:p>
            <a:pPr marL="457200" indent="-457200">
              <a:buFont typeface="+mj-lt"/>
              <a:buAutoNum type="arabicPeriod"/>
              <a:defRPr/>
            </a:pPr>
            <a:r>
              <a:rPr lang="en-US" sz="2000" dirty="0">
                <a:solidFill>
                  <a:srgbClr val="111111"/>
                </a:solidFill>
                <a:cs typeface="Calibri" panose="020F0502020204030204" pitchFamily="34" charset="0"/>
              </a:rPr>
              <a:t>The transmission substation carries overhead lines that transfer generated electrical energy from the generation to the distribution substations. It supplies large amounts of power to bulk power substations or very big consumers. </a:t>
            </a:r>
          </a:p>
          <a:p>
            <a:pPr marL="457200" indent="-457200">
              <a:buFont typeface="+mj-lt"/>
              <a:buAutoNum type="arabicPeriod"/>
              <a:defRPr/>
            </a:pPr>
            <a:r>
              <a:rPr lang="en-US" sz="2000" dirty="0">
                <a:solidFill>
                  <a:srgbClr val="111111"/>
                </a:solidFill>
                <a:cs typeface="Calibri" panose="020F0502020204030204" pitchFamily="34" charset="0"/>
              </a:rPr>
              <a:t>The transmission lines have two primary functions: </a:t>
            </a:r>
          </a:p>
          <a:p>
            <a:pPr marL="457200" indent="-457200">
              <a:buFont typeface="+mj-lt"/>
              <a:buAutoNum type="arabicPeriod"/>
              <a:defRPr/>
            </a:pPr>
            <a:r>
              <a:rPr lang="en-US" sz="2000" dirty="0">
                <a:solidFill>
                  <a:srgbClr val="111111"/>
                </a:solidFill>
                <a:cs typeface="Calibri" panose="020F0502020204030204" pitchFamily="34" charset="0"/>
              </a:rPr>
              <a:t>Transporting energy from generating stations to bulk receiving stations and</a:t>
            </a:r>
          </a:p>
          <a:p>
            <a:pPr marL="457200" indent="-457200">
              <a:buFont typeface="+mj-lt"/>
              <a:buAutoNum type="arabicPeriod"/>
              <a:defRPr/>
            </a:pPr>
            <a:r>
              <a:rPr lang="en-US" sz="2000" dirty="0">
                <a:solidFill>
                  <a:srgbClr val="111111"/>
                </a:solidFill>
                <a:cs typeface="Calibri" panose="020F0502020204030204" pitchFamily="34" charset="0"/>
              </a:rPr>
              <a:t> Interconnecting two or more generating stations. </a:t>
            </a:r>
          </a:p>
          <a:p>
            <a:pPr marL="457200" indent="-457200">
              <a:buFont typeface="+mj-lt"/>
              <a:buAutoNum type="arabicPeriod"/>
              <a:defRPr/>
            </a:pPr>
            <a:r>
              <a:rPr lang="en-US" sz="2000" dirty="0">
                <a:solidFill>
                  <a:srgbClr val="111111"/>
                </a:solidFill>
                <a:cs typeface="Calibri" panose="020F0502020204030204" pitchFamily="34" charset="0"/>
              </a:rPr>
              <a:t>Neighboring substations are also interconnected through the transmission lines. The transmission voltage is standardized at 69kV, 115kV, 138kV, 161kV, 230kV, 345kV, 500kV, and 765kV, line-to-line, and operates at more than 66kV. Transmission lines above 230kV are usually referred to as extra high voltage (EHV).</a:t>
            </a:r>
          </a:p>
          <a:p>
            <a:pPr marL="457200" lvl="3" indent="0">
              <a:buNone/>
              <a:defRPr/>
            </a:pPr>
            <a:endParaRPr lang="en-US" dirty="0">
              <a:solidFill>
                <a:srgbClr val="222222"/>
              </a:solidFill>
            </a:endParaRPr>
          </a:p>
          <a:p>
            <a:pPr lvl="3">
              <a:defRPr/>
            </a:pPr>
            <a:endParaRPr lang="en-US" dirty="0">
              <a:solidFill>
                <a:srgbClr val="222222"/>
              </a:solidFill>
              <a:latin typeface="Nunito Sans" panose="020B0604020202020204" pitchFamily="2" charset="0"/>
            </a:endParaRPr>
          </a:p>
        </p:txBody>
      </p:sp>
      <p:pic>
        <p:nvPicPr>
          <p:cNvPr id="3" name="Picture 4" descr="University of Hyderabad, India">
            <a:extLst>
              <a:ext uri="{FF2B5EF4-FFF2-40B4-BE49-F238E27FC236}">
                <a16:creationId xmlns:a16="http://schemas.microsoft.com/office/drawing/2014/main" id="{04EAF4B7-D1EC-92F4-641E-BC4A0236A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Institution of Eminence Logo unveiled |">
            <a:extLst>
              <a:ext uri="{FF2B5EF4-FFF2-40B4-BE49-F238E27FC236}">
                <a16:creationId xmlns:a16="http://schemas.microsoft.com/office/drawing/2014/main" id="{13F1A8FF-A216-795F-D0FE-1B38290B4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9EB3D53-3584-B871-AE9B-0B1CECE59861}"/>
              </a:ext>
            </a:extLst>
          </p:cNvPr>
          <p:cNvSpPr>
            <a:spLocks noGrp="1"/>
          </p:cNvSpPr>
          <p:nvPr>
            <p:ph type="title"/>
          </p:nvPr>
        </p:nvSpPr>
        <p:spPr bwMode="auto">
          <a:xfrm>
            <a:off x="3373258" y="448985"/>
            <a:ext cx="5988050" cy="855663"/>
          </a:xfrm>
        </p:spPr>
        <p:txBody>
          <a:bodyPr vert="horz" wrap="square" lIns="91440" tIns="45720" rIns="91440" bIns="45720" numCol="1" rtlCol="0" anchor="t" anchorCtr="0" compatLnSpc="1">
            <a:prstTxWarp prst="textNoShape">
              <a:avLst/>
            </a:prstTxWarp>
            <a:normAutofit/>
          </a:bodyPr>
          <a:lstStyle/>
          <a:p>
            <a:pPr eaLnBrk="1" hangingPunct="1">
              <a:defRPr/>
            </a:pPr>
            <a:r>
              <a:rPr altLang="en-US" sz="3600" b="1" dirty="0">
                <a:solidFill>
                  <a:schemeClr val="tx1">
                    <a:lumMod val="95000"/>
                    <a:lumOff val="5000"/>
                  </a:schemeClr>
                </a:solidFill>
              </a:rPr>
              <a:t>Transmission Lines</a:t>
            </a:r>
          </a:p>
        </p:txBody>
      </p:sp>
      <p:sp>
        <p:nvSpPr>
          <p:cNvPr id="28675" name="Content Placeholder 1">
            <a:extLst>
              <a:ext uri="{FF2B5EF4-FFF2-40B4-BE49-F238E27FC236}">
                <a16:creationId xmlns:a16="http://schemas.microsoft.com/office/drawing/2014/main" id="{03434E7D-15DE-EF36-AC0D-EED3DF4936E8}"/>
              </a:ext>
            </a:extLst>
          </p:cNvPr>
          <p:cNvSpPr>
            <a:spLocks noGrp="1"/>
          </p:cNvSpPr>
          <p:nvPr>
            <p:ph idx="1"/>
          </p:nvPr>
        </p:nvSpPr>
        <p:spPr bwMode="auto">
          <a:xfrm>
            <a:off x="980388" y="1687397"/>
            <a:ext cx="10350631" cy="4493265"/>
          </a:xfrm>
        </p:spPr>
        <p:txBody>
          <a:bodyPr vert="horz" wrap="square" lIns="91440" tIns="45720" rIns="91440" bIns="45720" numCol="1" rtlCol="0" anchor="t" anchorCtr="0" compatLnSpc="1">
            <a:prstTxWarp prst="textNoShape">
              <a:avLst/>
            </a:prstTxWarp>
            <a:normAutofit fontScale="70000" lnSpcReduction="20000"/>
          </a:bodyPr>
          <a:lstStyle/>
          <a:p>
            <a:pPr>
              <a:defRPr/>
            </a:pPr>
            <a:r>
              <a:rPr lang="en-US" sz="2800" dirty="0">
                <a:solidFill>
                  <a:srgbClr val="222222"/>
                </a:solidFill>
                <a:cs typeface="Calibri" panose="020F0502020204030204" pitchFamily="34" charset="0"/>
              </a:rPr>
              <a:t>Transmission lines are specialized cables or structures designed to conduct electromagnetic waves in a contained manner. </a:t>
            </a:r>
          </a:p>
          <a:p>
            <a:pPr>
              <a:defRPr/>
            </a:pPr>
            <a:r>
              <a:rPr lang="en-US" sz="2800" dirty="0">
                <a:solidFill>
                  <a:srgbClr val="222222"/>
                </a:solidFill>
                <a:cs typeface="Calibri" panose="020F0502020204030204" pitchFamily="34" charset="0"/>
              </a:rPr>
              <a:t>They are used to connect radio transmitters and receivers with their antennas, distribute cable television signals, route calls between telephone switching centers, and connect computer networks and high-speed computer data buses </a:t>
            </a:r>
          </a:p>
          <a:p>
            <a:pPr>
              <a:defRPr/>
            </a:pPr>
            <a:r>
              <a:rPr lang="en-US" sz="2800" dirty="0">
                <a:solidFill>
                  <a:srgbClr val="222222"/>
                </a:solidFill>
                <a:cs typeface="Calibri" panose="020F0502020204030204" pitchFamily="34" charset="0"/>
              </a:rPr>
              <a:t>The transmission lines have uniform cross-sectional dimensions along their length, giving them a uniform impedance, called the characteristic impedance, to prevent reflections</a:t>
            </a:r>
          </a:p>
          <a:p>
            <a:pPr>
              <a:defRPr/>
            </a:pPr>
            <a:r>
              <a:rPr lang="en-US" sz="2800" dirty="0">
                <a:solidFill>
                  <a:srgbClr val="222222"/>
                </a:solidFill>
                <a:cs typeface="Calibri" panose="020F0502020204030204" pitchFamily="34" charset="0"/>
              </a:rPr>
              <a:t>The primary functions of transmission lines are to transport energy from generating stations to bulk receiving stations and interconnect two or more generating stations. Neighboring substations are also interconnected through the transmission lines. </a:t>
            </a:r>
          </a:p>
          <a:p>
            <a:pPr>
              <a:defRPr/>
            </a:pPr>
            <a:r>
              <a:rPr lang="en-US" sz="2800" dirty="0">
                <a:solidFill>
                  <a:srgbClr val="222222"/>
                </a:solidFill>
                <a:cs typeface="Calibri" panose="020F0502020204030204" pitchFamily="34" charset="0"/>
              </a:rPr>
              <a:t>The transmission voltage is standardized at 69kV, 115kV, 138kV, 161kV, 230kV, 345kV, 500kV, and 765kV, line-to-line, and operates at more than 66kV. </a:t>
            </a:r>
          </a:p>
          <a:p>
            <a:pPr>
              <a:defRPr/>
            </a:pPr>
            <a:r>
              <a:rPr lang="en-US" sz="2800" dirty="0">
                <a:solidFill>
                  <a:srgbClr val="222222"/>
                </a:solidFill>
                <a:cs typeface="Calibri" panose="020F0502020204030204" pitchFamily="34" charset="0"/>
              </a:rPr>
              <a:t>Transmission lines above 230kV are usually referred to as extra high voltage (EHV) . The high voltage line is terminated in substations called high voltage substations, receiving substations, or primary substations. In high voltage substations, the voltage is stepped down to a suitable value for the next part of the flow toward the load</a:t>
            </a:r>
            <a:r>
              <a:rPr lang="en-US" sz="2800" dirty="0">
                <a:solidFill>
                  <a:srgbClr val="222222"/>
                </a:solidFill>
                <a:latin typeface="Nunito Sans" panose="020B0604020202020204" pitchFamily="2" charset="0"/>
              </a:rPr>
              <a:t>.</a:t>
            </a:r>
          </a:p>
        </p:txBody>
      </p:sp>
      <p:pic>
        <p:nvPicPr>
          <p:cNvPr id="2" name="Picture 4" descr="University of Hyderabad, India">
            <a:extLst>
              <a:ext uri="{FF2B5EF4-FFF2-40B4-BE49-F238E27FC236}">
                <a16:creationId xmlns:a16="http://schemas.microsoft.com/office/drawing/2014/main" id="{2396A8FD-4848-C07D-3391-1675E762C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13573176-3F6C-22AF-5ECF-2EE92C9D9E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B1C88342-935E-A9F2-2AD9-5E42FD57CCB4}"/>
              </a:ext>
            </a:extLst>
          </p:cNvPr>
          <p:cNvSpPr>
            <a:spLocks noGrp="1"/>
          </p:cNvSpPr>
          <p:nvPr>
            <p:ph type="title"/>
          </p:nvPr>
        </p:nvSpPr>
        <p:spPr bwMode="auto">
          <a:xfrm>
            <a:off x="3182938" y="534988"/>
            <a:ext cx="5988050" cy="855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altLang="en-US" sz="2800" b="1"/>
              <a:t>Types of faults in Transmission Lines</a:t>
            </a:r>
          </a:p>
        </p:txBody>
      </p:sp>
      <p:sp>
        <p:nvSpPr>
          <p:cNvPr id="28675" name="Content Placeholder 1">
            <a:extLst>
              <a:ext uri="{FF2B5EF4-FFF2-40B4-BE49-F238E27FC236}">
                <a16:creationId xmlns:a16="http://schemas.microsoft.com/office/drawing/2014/main" id="{E709F17E-38DE-4B43-8742-FC58F4526B76}"/>
              </a:ext>
            </a:extLst>
          </p:cNvPr>
          <p:cNvSpPr>
            <a:spLocks noGrp="1"/>
          </p:cNvSpPr>
          <p:nvPr>
            <p:ph idx="1"/>
          </p:nvPr>
        </p:nvSpPr>
        <p:spPr bwMode="auto">
          <a:xfrm>
            <a:off x="677879" y="1475830"/>
            <a:ext cx="10671142" cy="5393554"/>
          </a:xfrm>
        </p:spPr>
        <p:txBody>
          <a:bodyPr vert="horz" wrap="square" lIns="91440" tIns="45720" rIns="91440" bIns="45720" numCol="1" rtlCol="0" anchor="t" anchorCtr="0" compatLnSpc="1">
            <a:prstTxWarp prst="textNoShape">
              <a:avLst/>
            </a:prstTxWarp>
            <a:normAutofit/>
          </a:bodyPr>
          <a:lstStyle/>
          <a:p>
            <a:pPr>
              <a:defRPr/>
            </a:pPr>
            <a:r>
              <a:rPr lang="en-US" sz="1800" dirty="0">
                <a:solidFill>
                  <a:srgbClr val="000000"/>
                </a:solidFill>
              </a:rPr>
              <a:t>Electrical faults due to lightning strikes during stormy weather conditions, or tree contacts with transmission lines or insulation failure in power system equipment affect transmission lines to a large extent</a:t>
            </a:r>
          </a:p>
          <a:p>
            <a:pPr marL="0" indent="0">
              <a:buNone/>
              <a:defRPr/>
            </a:pPr>
            <a:r>
              <a:rPr lang="en-US" sz="1600" dirty="0">
                <a:solidFill>
                  <a:srgbClr val="000000"/>
                </a:solidFill>
                <a:cs typeface="Calibri" panose="020F0502020204030204" pitchFamily="34" charset="0"/>
              </a:rPr>
              <a:t>Types of faults – </a:t>
            </a:r>
          </a:p>
          <a:p>
            <a:pPr marL="0" indent="0">
              <a:buNone/>
              <a:defRPr/>
            </a:pPr>
            <a:r>
              <a:rPr lang="en-US" sz="1600" dirty="0"/>
              <a:t>a)Phase to Ground fault (L–G fault) 		b) Phase to Phase fault (L–L fault)</a:t>
            </a:r>
          </a:p>
          <a:p>
            <a:pPr marL="0" indent="0">
              <a:buNone/>
              <a:defRPr/>
            </a:pPr>
            <a:r>
              <a:rPr lang="en-US" sz="1600" dirty="0"/>
              <a:t>	(AG,BG,CG)				(AB,BC,CA)</a:t>
            </a:r>
          </a:p>
          <a:p>
            <a:pPr marL="0" indent="0">
              <a:buNone/>
              <a:defRPr/>
            </a:pPr>
            <a:endParaRPr lang="en-US" sz="1600" dirty="0"/>
          </a:p>
          <a:p>
            <a:pPr marL="0" indent="0">
              <a:buNone/>
              <a:defRPr/>
            </a:pPr>
            <a:endParaRPr lang="en-US" sz="1600" dirty="0"/>
          </a:p>
          <a:p>
            <a:pPr marL="0" indent="0">
              <a:buNone/>
              <a:defRPr/>
            </a:pPr>
            <a:endParaRPr lang="en-US" sz="1600" dirty="0"/>
          </a:p>
          <a:p>
            <a:pPr marL="0" indent="0">
              <a:buNone/>
              <a:defRPr/>
            </a:pPr>
            <a:endParaRPr lang="en-US" sz="1600" dirty="0"/>
          </a:p>
          <a:p>
            <a:pPr marL="0" indent="0">
              <a:buNone/>
              <a:defRPr/>
            </a:pPr>
            <a:r>
              <a:rPr lang="en-US" sz="1600" dirty="0"/>
              <a:t>c) Double Phase to Ground fault (LL–G fault) 	d) Three Phase fault ( LLL fault)	</a:t>
            </a:r>
          </a:p>
          <a:p>
            <a:pPr marL="0" indent="0">
              <a:buNone/>
              <a:defRPr/>
            </a:pPr>
            <a:r>
              <a:rPr lang="en-US" sz="1600" dirty="0"/>
              <a:t>                         (ABG,BCG,CAG)                                                                    (ABC)</a:t>
            </a:r>
          </a:p>
          <a:p>
            <a:pPr marL="0" indent="0">
              <a:buNone/>
              <a:defRPr/>
            </a:pPr>
            <a:endParaRPr lang="en-US" sz="1600" dirty="0"/>
          </a:p>
          <a:p>
            <a:pPr marL="0" indent="0">
              <a:buNone/>
              <a:defRPr/>
            </a:pPr>
            <a:endParaRPr lang="en-IN" altLang="en-US" sz="1600" dirty="0"/>
          </a:p>
          <a:p>
            <a:pPr marL="0" indent="0">
              <a:buNone/>
              <a:defRPr/>
            </a:pPr>
            <a:endParaRPr lang="en-IN" altLang="en-US" sz="1600" dirty="0"/>
          </a:p>
        </p:txBody>
      </p:sp>
      <p:pic>
        <p:nvPicPr>
          <p:cNvPr id="34820" name="Picture 1">
            <a:extLst>
              <a:ext uri="{FF2B5EF4-FFF2-40B4-BE49-F238E27FC236}">
                <a16:creationId xmlns:a16="http://schemas.microsoft.com/office/drawing/2014/main" id="{BCBDD488-3B28-C8F9-01EB-5193B0747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564" y="3034883"/>
            <a:ext cx="31559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2">
            <a:extLst>
              <a:ext uri="{FF2B5EF4-FFF2-40B4-BE49-F238E27FC236}">
                <a16:creationId xmlns:a16="http://schemas.microsoft.com/office/drawing/2014/main" id="{8CC83C55-C6D6-059B-AEFF-4B8F1CE9D8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2682" y="3179345"/>
            <a:ext cx="3157538"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3">
            <a:extLst>
              <a:ext uri="{FF2B5EF4-FFF2-40B4-BE49-F238E27FC236}">
                <a16:creationId xmlns:a16="http://schemas.microsoft.com/office/drawing/2014/main" id="{C53E9013-24A8-B98A-D4B6-3409D1A7AF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879" y="5108791"/>
            <a:ext cx="381635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4">
            <a:extLst>
              <a:ext uri="{FF2B5EF4-FFF2-40B4-BE49-F238E27FC236}">
                <a16:creationId xmlns:a16="http://schemas.microsoft.com/office/drawing/2014/main" id="{FFEF2CE3-A03C-48F6-1918-C26F13E4F4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6619" y="5108790"/>
            <a:ext cx="3649663"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University of Hyderabad, India">
            <a:extLst>
              <a:ext uri="{FF2B5EF4-FFF2-40B4-BE49-F238E27FC236}">
                <a16:creationId xmlns:a16="http://schemas.microsoft.com/office/drawing/2014/main" id="{549459D9-C222-2E4F-2074-DD8179F22D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D2E12494-380B-D65A-523F-C8B671252F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D404CD12-227D-E288-9A94-B3341B6EBAC4}"/>
              </a:ext>
            </a:extLst>
          </p:cNvPr>
          <p:cNvSpPr>
            <a:spLocks noGrp="1"/>
          </p:cNvSpPr>
          <p:nvPr>
            <p:ph type="title"/>
          </p:nvPr>
        </p:nvSpPr>
        <p:spPr bwMode="auto">
          <a:xfrm>
            <a:off x="2648932" y="333376"/>
            <a:ext cx="6522056" cy="873255"/>
          </a:xfrm>
        </p:spPr>
        <p:txBody>
          <a:bodyPr vert="horz" wrap="square" lIns="91440" tIns="45720" rIns="91440" bIns="45720" numCol="1" rtlCol="0" anchor="t" anchorCtr="0" compatLnSpc="1">
            <a:prstTxWarp prst="textNoShape">
              <a:avLst/>
            </a:prstTxWarp>
            <a:normAutofit/>
          </a:bodyPr>
          <a:lstStyle/>
          <a:p>
            <a:pPr eaLnBrk="1" hangingPunct="1">
              <a:defRPr/>
            </a:pPr>
            <a:r>
              <a:rPr lang="en-US" altLang="en-US" sz="2800" b="1" dirty="0">
                <a:solidFill>
                  <a:schemeClr val="tx1">
                    <a:lumMod val="95000"/>
                    <a:lumOff val="5000"/>
                  </a:schemeClr>
                </a:solidFill>
              </a:rPr>
              <a:t>        </a:t>
            </a:r>
            <a:r>
              <a:rPr altLang="en-US" sz="2800" b="1" dirty="0">
                <a:solidFill>
                  <a:schemeClr val="tx1">
                    <a:lumMod val="95000"/>
                    <a:lumOff val="5000"/>
                  </a:schemeClr>
                </a:solidFill>
              </a:rPr>
              <a:t>Fault Detection in power systems</a:t>
            </a:r>
          </a:p>
        </p:txBody>
      </p:sp>
      <p:sp>
        <p:nvSpPr>
          <p:cNvPr id="28675" name="Content Placeholder 1">
            <a:extLst>
              <a:ext uri="{FF2B5EF4-FFF2-40B4-BE49-F238E27FC236}">
                <a16:creationId xmlns:a16="http://schemas.microsoft.com/office/drawing/2014/main" id="{E6F69BB2-4224-1258-9178-63D25D12F68C}"/>
              </a:ext>
            </a:extLst>
          </p:cNvPr>
          <p:cNvSpPr>
            <a:spLocks noGrp="1"/>
          </p:cNvSpPr>
          <p:nvPr>
            <p:ph idx="1"/>
          </p:nvPr>
        </p:nvSpPr>
        <p:spPr bwMode="auto">
          <a:xfrm>
            <a:off x="942680" y="1593130"/>
            <a:ext cx="10435473" cy="4301259"/>
          </a:xfrm>
        </p:spPr>
        <p:txBody>
          <a:bodyPr vert="horz" wrap="square" lIns="91440" tIns="45720" rIns="91440" bIns="45720" numCol="1" rtlCol="0" anchor="t" anchorCtr="0" compatLnSpc="1">
            <a:prstTxWarp prst="textNoShape">
              <a:avLst/>
            </a:prstTxWarp>
            <a:normAutofit/>
          </a:bodyPr>
          <a:lstStyle/>
          <a:p>
            <a:pPr>
              <a:defRPr/>
            </a:pPr>
            <a:r>
              <a:rPr lang="en-US" sz="2400" dirty="0"/>
              <a:t>In power systems, detecting and locating faults on transmission lines is critical for restoring power quickly and preventing harm to people, property, and the environment. Fast detection, classification, and resolution of faults help maintain the stability and safety of the power system.</a:t>
            </a:r>
          </a:p>
          <a:p>
            <a:pPr>
              <a:defRPr/>
            </a:pPr>
            <a:r>
              <a:rPr lang="en-US" sz="2400" b="1" dirty="0"/>
              <a:t>Fault Classification</a:t>
            </a:r>
            <a:r>
              <a:rPr lang="en-US" sz="2400" dirty="0"/>
              <a:t> involves identifying and categorizing issues on transmission lines, such as short circuits or open circuits. This is done using protective relays and monitoring systems that analyze electrical signals in real-time, allowing for a quick response to keep the system stable.</a:t>
            </a:r>
          </a:p>
          <a:p>
            <a:pPr>
              <a:defRPr/>
            </a:pPr>
            <a:r>
              <a:rPr lang="en-US" sz="2400" b="1" dirty="0"/>
              <a:t>Fault Location Detection</a:t>
            </a:r>
            <a:r>
              <a:rPr lang="en-US" sz="2400" dirty="0"/>
              <a:t> is the process of finding the exact spot where a fault has occurred. By studying changes in electrical signals and the time they take to travel through the system, the location of the fault can be determined, enabling faster repairs and reducing power outages.</a:t>
            </a:r>
            <a:endParaRPr lang="en-IN" altLang="en-US" sz="2400" dirty="0"/>
          </a:p>
        </p:txBody>
      </p:sp>
      <p:pic>
        <p:nvPicPr>
          <p:cNvPr id="2" name="Picture 4" descr="University of Hyderabad, India">
            <a:extLst>
              <a:ext uri="{FF2B5EF4-FFF2-40B4-BE49-F238E27FC236}">
                <a16:creationId xmlns:a16="http://schemas.microsoft.com/office/drawing/2014/main" id="{E7CEDC41-FCC9-2A74-AE39-092DD8256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97962"/>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8419559F-764A-7EFB-5802-103E0628BC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2A44E76A-CEA7-D716-A1BF-DAD42266AC6E}"/>
              </a:ext>
            </a:extLst>
          </p:cNvPr>
          <p:cNvSpPr>
            <a:spLocks noGrp="1"/>
          </p:cNvSpPr>
          <p:nvPr>
            <p:ph type="title"/>
          </p:nvPr>
        </p:nvSpPr>
        <p:spPr bwMode="auto">
          <a:xfrm>
            <a:off x="3184721" y="448985"/>
            <a:ext cx="5988050" cy="85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altLang="en-US" sz="2800" b="1" dirty="0"/>
              <a:t>Physics Based Methods being used </a:t>
            </a:r>
          </a:p>
        </p:txBody>
      </p:sp>
      <p:sp>
        <p:nvSpPr>
          <p:cNvPr id="28675" name="Content Placeholder 1">
            <a:extLst>
              <a:ext uri="{FF2B5EF4-FFF2-40B4-BE49-F238E27FC236}">
                <a16:creationId xmlns:a16="http://schemas.microsoft.com/office/drawing/2014/main" id="{0EF71E8B-7C5B-47DB-D061-491CD055F393}"/>
              </a:ext>
            </a:extLst>
          </p:cNvPr>
          <p:cNvSpPr>
            <a:spLocks noGrp="1"/>
          </p:cNvSpPr>
          <p:nvPr>
            <p:ph idx="1"/>
          </p:nvPr>
        </p:nvSpPr>
        <p:spPr bwMode="auto">
          <a:xfrm>
            <a:off x="810706" y="1640264"/>
            <a:ext cx="10539166" cy="4254126"/>
          </a:xfrm>
        </p:spPr>
        <p:txBody>
          <a:bodyPr vert="horz" wrap="square" lIns="91440" tIns="45720" rIns="91440" bIns="45720" numCol="1" rtlCol="0" anchor="t" anchorCtr="0" compatLnSpc="1">
            <a:prstTxWarp prst="textNoShape">
              <a:avLst/>
            </a:prstTxWarp>
            <a:normAutofit/>
          </a:bodyPr>
          <a:lstStyle/>
          <a:p>
            <a:pPr>
              <a:defRPr/>
            </a:pPr>
            <a:r>
              <a:rPr lang="en-IN" altLang="en-US" sz="2200" dirty="0"/>
              <a:t>Physics Based methods for Fault classification </a:t>
            </a:r>
          </a:p>
          <a:p>
            <a:pPr marL="342900" indent="-342900">
              <a:buFont typeface="+mj-lt"/>
              <a:buAutoNum type="arabicPeriod"/>
              <a:defRPr/>
            </a:pPr>
            <a:r>
              <a:rPr lang="en-IN" altLang="en-US" sz="2200" dirty="0"/>
              <a:t>Impedance measurement-based method</a:t>
            </a:r>
          </a:p>
          <a:p>
            <a:pPr marL="342900" indent="-342900">
              <a:buFont typeface="+mj-lt"/>
              <a:buAutoNum type="arabicPeriod"/>
              <a:defRPr/>
            </a:pPr>
            <a:r>
              <a:rPr lang="en-IN" altLang="en-US" sz="2200" dirty="0"/>
              <a:t>Travelling waves-based analysis</a:t>
            </a:r>
          </a:p>
          <a:p>
            <a:pPr marL="342900" indent="-342900">
              <a:buFont typeface="+mj-lt"/>
              <a:buAutoNum type="arabicPeriod"/>
              <a:defRPr/>
            </a:pPr>
            <a:r>
              <a:rPr lang="en-IN" altLang="en-US" sz="2200" dirty="0"/>
              <a:t>Symmetrical components-based fault classifications</a:t>
            </a:r>
          </a:p>
          <a:p>
            <a:pPr marL="0" indent="0">
              <a:buNone/>
              <a:defRPr/>
            </a:pPr>
            <a:endParaRPr lang="en-IN" altLang="en-US" sz="2200" dirty="0"/>
          </a:p>
          <a:p>
            <a:pPr>
              <a:defRPr/>
            </a:pPr>
            <a:r>
              <a:rPr lang="en-IN" altLang="en-US" sz="2200" dirty="0"/>
              <a:t>Physics Based methods for Fault Location Detection </a:t>
            </a:r>
          </a:p>
          <a:p>
            <a:pPr marL="342900" indent="-342900">
              <a:buFont typeface="+mj-lt"/>
              <a:buAutoNum type="arabicPeriod"/>
              <a:defRPr/>
            </a:pPr>
            <a:r>
              <a:rPr lang="en-IN" altLang="en-US" sz="2200" dirty="0"/>
              <a:t>Takagi Technique</a:t>
            </a:r>
          </a:p>
          <a:p>
            <a:pPr marL="342900" indent="-342900">
              <a:buFont typeface="+mj-lt"/>
              <a:buAutoNum type="arabicPeriod"/>
              <a:defRPr/>
            </a:pPr>
            <a:r>
              <a:rPr lang="en-US" sz="2200" dirty="0">
                <a:solidFill>
                  <a:srgbClr val="000000"/>
                </a:solidFill>
              </a:rPr>
              <a:t>Modified Takagi Technique</a:t>
            </a:r>
            <a:endParaRPr lang="en-IN" sz="2200" dirty="0">
              <a:solidFill>
                <a:srgbClr val="000000"/>
              </a:solidFill>
            </a:endParaRPr>
          </a:p>
          <a:p>
            <a:pPr marL="342900" indent="-342900">
              <a:buFont typeface="+mj-lt"/>
              <a:buAutoNum type="arabicPeriod"/>
              <a:defRPr/>
            </a:pPr>
            <a:r>
              <a:rPr lang="en-US" sz="2200" dirty="0">
                <a:solidFill>
                  <a:srgbClr val="000000"/>
                </a:solidFill>
              </a:rPr>
              <a:t>Novosel et. al., Technique</a:t>
            </a:r>
            <a:endParaRPr lang="en-IN" altLang="en-US" sz="2200" dirty="0"/>
          </a:p>
        </p:txBody>
      </p:sp>
      <p:pic>
        <p:nvPicPr>
          <p:cNvPr id="2" name="Picture 4" descr="University of Hyderabad, India">
            <a:extLst>
              <a:ext uri="{FF2B5EF4-FFF2-40B4-BE49-F238E27FC236}">
                <a16:creationId xmlns:a16="http://schemas.microsoft.com/office/drawing/2014/main" id="{95DD745D-AC2C-4DA0-B421-43FFE3581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570807B2-9124-0E69-0E80-14A2D1F6F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5292-3591-66A3-E5E0-4197E3ADED87}"/>
              </a:ext>
            </a:extLst>
          </p:cNvPr>
          <p:cNvSpPr>
            <a:spLocks noGrp="1"/>
          </p:cNvSpPr>
          <p:nvPr>
            <p:ph type="title"/>
          </p:nvPr>
        </p:nvSpPr>
        <p:spPr>
          <a:xfrm>
            <a:off x="4149365" y="681037"/>
            <a:ext cx="3893270" cy="653740"/>
          </a:xfrm>
        </p:spPr>
        <p:txBody>
          <a:bodyPr>
            <a:normAutofit fontScale="90000"/>
          </a:bodyPr>
          <a:lstStyle/>
          <a:p>
            <a:r>
              <a:rPr lang="en-US" dirty="0"/>
              <a:t>Project Progress</a:t>
            </a:r>
            <a:endParaRPr lang="en-IN" dirty="0"/>
          </a:p>
        </p:txBody>
      </p:sp>
      <p:sp>
        <p:nvSpPr>
          <p:cNvPr id="3" name="Content Placeholder 2">
            <a:extLst>
              <a:ext uri="{FF2B5EF4-FFF2-40B4-BE49-F238E27FC236}">
                <a16:creationId xmlns:a16="http://schemas.microsoft.com/office/drawing/2014/main" id="{7B56E93D-60ED-C79F-ADC4-853D6AC719B3}"/>
              </a:ext>
            </a:extLst>
          </p:cNvPr>
          <p:cNvSpPr>
            <a:spLocks noGrp="1"/>
          </p:cNvSpPr>
          <p:nvPr>
            <p:ph idx="1"/>
          </p:nvPr>
        </p:nvSpPr>
        <p:spPr/>
        <p:txBody>
          <a:bodyPr>
            <a:normAutofit lnSpcReduction="10000"/>
          </a:bodyPr>
          <a:lstStyle/>
          <a:p>
            <a:r>
              <a:rPr lang="en-US" dirty="0"/>
              <a:t>Model Conversion: Converted the Tensorflow model to Tensorflow Lite for fault classification and location.</a:t>
            </a:r>
          </a:p>
          <a:p>
            <a:r>
              <a:rPr lang="en-US" dirty="0"/>
              <a:t>Accuracy Validation: Verified the accuracy and performance of the Tensorflow Lite model using Python framework, ensuring no significant loss of precision.</a:t>
            </a:r>
          </a:p>
          <a:p>
            <a:r>
              <a:rPr lang="en-US" dirty="0"/>
              <a:t>C/C++ Inference Implemented: Developed and tested inference code with C and C++, generating DLL files for Windows systems to enable integration and execution.</a:t>
            </a:r>
          </a:p>
          <a:p>
            <a:r>
              <a:rPr lang="en-US" dirty="0"/>
              <a:t>ARM Deployment Prepared: Cross compiled to produce .so files for ARM based platforms, ensuring compatibility for embedded environments.</a:t>
            </a:r>
          </a:p>
          <a:p>
            <a:endParaRPr lang="en-IN" dirty="0"/>
          </a:p>
        </p:txBody>
      </p:sp>
      <p:pic>
        <p:nvPicPr>
          <p:cNvPr id="4" name="Picture 4" descr="University of Hyderabad, India">
            <a:extLst>
              <a:ext uri="{FF2B5EF4-FFF2-40B4-BE49-F238E27FC236}">
                <a16:creationId xmlns:a16="http://schemas.microsoft.com/office/drawing/2014/main" id="{FCB3F689-0480-BC8E-F7FF-9E45B0458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nstitution of Eminence Logo unveiled |">
            <a:extLst>
              <a:ext uri="{FF2B5EF4-FFF2-40B4-BE49-F238E27FC236}">
                <a16:creationId xmlns:a16="http://schemas.microsoft.com/office/drawing/2014/main" id="{5E751B4D-CEDA-1013-DDA1-F8AE16ECC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669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FFB5-BFF4-B560-A497-7DE31D434C52}"/>
              </a:ext>
            </a:extLst>
          </p:cNvPr>
          <p:cNvSpPr>
            <a:spLocks noGrp="1"/>
          </p:cNvSpPr>
          <p:nvPr>
            <p:ph type="title"/>
          </p:nvPr>
        </p:nvSpPr>
        <p:spPr>
          <a:xfrm>
            <a:off x="838200" y="478247"/>
            <a:ext cx="9779524" cy="1020615"/>
          </a:xfrm>
        </p:spPr>
        <p:txBody>
          <a:bodyPr/>
          <a:lstStyle/>
          <a:p>
            <a:pPr algn="ctr"/>
            <a:r>
              <a:rPr lang="en-US" dirty="0"/>
              <a:t>Model Conversion</a:t>
            </a:r>
            <a:endParaRPr lang="en-IN" dirty="0"/>
          </a:p>
        </p:txBody>
      </p:sp>
      <p:sp>
        <p:nvSpPr>
          <p:cNvPr id="3" name="Content Placeholder 2">
            <a:extLst>
              <a:ext uri="{FF2B5EF4-FFF2-40B4-BE49-F238E27FC236}">
                <a16:creationId xmlns:a16="http://schemas.microsoft.com/office/drawing/2014/main" id="{BFAEB8B7-7D0D-EC89-B5AE-E665A3834E3A}"/>
              </a:ext>
            </a:extLst>
          </p:cNvPr>
          <p:cNvSpPr>
            <a:spLocks noGrp="1"/>
          </p:cNvSpPr>
          <p:nvPr>
            <p:ph idx="1"/>
          </p:nvPr>
        </p:nvSpPr>
        <p:spPr>
          <a:xfrm>
            <a:off x="838200" y="1498862"/>
            <a:ext cx="10515600" cy="4678101"/>
          </a:xfrm>
        </p:spPr>
        <p:txBody>
          <a:bodyPr>
            <a:normAutofit lnSpcReduction="10000"/>
          </a:bodyPr>
          <a:lstStyle/>
          <a:p>
            <a:r>
              <a:rPr lang="en-US" dirty="0"/>
              <a:t>The machine models we use with Tensorflow Lite are originally built and trained using Tensorflow core libraries and tools.</a:t>
            </a:r>
          </a:p>
          <a:p>
            <a:r>
              <a:rPr lang="en-US" dirty="0"/>
              <a:t>Once you have built a model with Tensorflow core, you can convert it to a smaller, more efficient model called Tensorflow lite model. </a:t>
            </a:r>
          </a:p>
          <a:p>
            <a:r>
              <a:rPr lang="en-US" dirty="0"/>
              <a:t>Conversion of Tensorflow models has a few step process. The first step of the process, you should evaluate where the model can be directly. This determines if the content of the model is supported by the standard Lite runtime environments based on the Tensorflow operations it uses.</a:t>
            </a:r>
          </a:p>
          <a:p>
            <a:r>
              <a:rPr lang="en-US" dirty="0"/>
              <a:t>If model uses operations outside of the supported set, you have to refactor the model. </a:t>
            </a:r>
            <a:endParaRPr lang="en-IN" dirty="0"/>
          </a:p>
        </p:txBody>
      </p:sp>
      <p:pic>
        <p:nvPicPr>
          <p:cNvPr id="4" name="Picture 4" descr="University of Hyderabad, India">
            <a:extLst>
              <a:ext uri="{FF2B5EF4-FFF2-40B4-BE49-F238E27FC236}">
                <a16:creationId xmlns:a16="http://schemas.microsoft.com/office/drawing/2014/main" id="{3FE1D0E9-25C2-730C-B3E7-1E8411854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nstitution of Eminence Logo unveiled |">
            <a:extLst>
              <a:ext uri="{FF2B5EF4-FFF2-40B4-BE49-F238E27FC236}">
                <a16:creationId xmlns:a16="http://schemas.microsoft.com/office/drawing/2014/main" id="{8D6DD290-8C3B-B0DB-B5CE-E1931951E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38551"/>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27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32C2B-FF35-FDB4-4D5E-8ED9EBFA9338}"/>
              </a:ext>
            </a:extLst>
          </p:cNvPr>
          <p:cNvSpPr>
            <a:spLocks noGrp="1"/>
          </p:cNvSpPr>
          <p:nvPr>
            <p:ph type="title"/>
          </p:nvPr>
        </p:nvSpPr>
        <p:spPr/>
        <p:txBody>
          <a:bodyPr/>
          <a:lstStyle/>
          <a:p>
            <a:pPr algn="ctr"/>
            <a:r>
              <a:rPr lang="en-US" dirty="0"/>
              <a:t>Model Conversion Continued..</a:t>
            </a:r>
            <a:endParaRPr lang="en-IN" dirty="0"/>
          </a:p>
        </p:txBody>
      </p:sp>
      <p:sp>
        <p:nvSpPr>
          <p:cNvPr id="3" name="Content Placeholder 2">
            <a:extLst>
              <a:ext uri="{FF2B5EF4-FFF2-40B4-BE49-F238E27FC236}">
                <a16:creationId xmlns:a16="http://schemas.microsoft.com/office/drawing/2014/main" id="{98F69DD0-35E0-DD63-3EC0-67C78A2AA5AE}"/>
              </a:ext>
            </a:extLst>
          </p:cNvPr>
          <p:cNvSpPr>
            <a:spLocks noGrp="1"/>
          </p:cNvSpPr>
          <p:nvPr>
            <p:ph idx="1"/>
          </p:nvPr>
        </p:nvSpPr>
        <p:spPr/>
        <p:txBody>
          <a:bodyPr>
            <a:normAutofit fontScale="92500" lnSpcReduction="10000"/>
          </a:bodyPr>
          <a:lstStyle/>
          <a:p>
            <a:r>
              <a:rPr lang="en-US" dirty="0"/>
              <a:t>The Lite Converter takes a Tensorflow model and generates a tensorflow lite model, which is an optimized FlatBuffer format identified .tflite extension).</a:t>
            </a:r>
          </a:p>
          <a:p>
            <a:r>
              <a:rPr lang="en-US" dirty="0"/>
              <a:t>The existing Fault classification model is a .pkl file whereas Fault location model is a h5 format model.</a:t>
            </a:r>
          </a:p>
          <a:p>
            <a:r>
              <a:rPr lang="en-US" dirty="0"/>
              <a:t>Tensorflow lite inputs only models of format h5 or SavedModel format. So, classification model should be rebuilt as it uses scikit-learn library.</a:t>
            </a:r>
          </a:p>
          <a:p>
            <a:r>
              <a:rPr lang="en-US" dirty="0"/>
              <a:t>A classification model is developed using an Artificial Neural Network (ANN), where various combinations of layers and neurons are systematically explored, and the optimal configuration is selected based on performance metrics.</a:t>
            </a:r>
          </a:p>
        </p:txBody>
      </p:sp>
      <p:pic>
        <p:nvPicPr>
          <p:cNvPr id="10" name="Picture 4" descr="University of Hyderabad, India">
            <a:extLst>
              <a:ext uri="{FF2B5EF4-FFF2-40B4-BE49-F238E27FC236}">
                <a16:creationId xmlns:a16="http://schemas.microsoft.com/office/drawing/2014/main" id="{04777931-FBB4-FF95-7FFA-3219A2983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Institution of Eminence Logo unveiled |">
            <a:extLst>
              <a:ext uri="{FF2B5EF4-FFF2-40B4-BE49-F238E27FC236}">
                <a16:creationId xmlns:a16="http://schemas.microsoft.com/office/drawing/2014/main" id="{D332804D-8F1A-629B-DC67-CA25A51EE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346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475AA7D1-173C-E149-78FF-E323FE7A06E7}"/>
              </a:ext>
            </a:extLst>
          </p:cNvPr>
          <p:cNvSpPr>
            <a:spLocks noGrp="1"/>
          </p:cNvSpPr>
          <p:nvPr>
            <p:ph type="title"/>
          </p:nvPr>
        </p:nvSpPr>
        <p:spPr bwMode="auto">
          <a:xfrm>
            <a:off x="3203575" y="269876"/>
            <a:ext cx="5988050" cy="85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altLang="en-US" sz="2800" b="1" dirty="0"/>
              <a:t>Dataset Information </a:t>
            </a:r>
          </a:p>
        </p:txBody>
      </p:sp>
      <p:sp>
        <p:nvSpPr>
          <p:cNvPr id="28675" name="Content Placeholder 1">
            <a:extLst>
              <a:ext uri="{FF2B5EF4-FFF2-40B4-BE49-F238E27FC236}">
                <a16:creationId xmlns:a16="http://schemas.microsoft.com/office/drawing/2014/main" id="{C9BB04F5-EA78-45D2-FFBC-BB403C34114B}"/>
              </a:ext>
            </a:extLst>
          </p:cNvPr>
          <p:cNvSpPr>
            <a:spLocks noGrp="1"/>
          </p:cNvSpPr>
          <p:nvPr>
            <p:ph idx="1"/>
          </p:nvPr>
        </p:nvSpPr>
        <p:spPr bwMode="auto">
          <a:xfrm>
            <a:off x="791852" y="1385740"/>
            <a:ext cx="10482606" cy="5067449"/>
          </a:xfrm>
        </p:spPr>
        <p:txBody>
          <a:bodyPr vert="horz" wrap="square" lIns="91440" tIns="45720" rIns="91440" bIns="45720" numCol="1" rtlCol="0" anchor="t" anchorCtr="0" compatLnSpc="1">
            <a:prstTxWarp prst="textNoShape">
              <a:avLst/>
            </a:prstTxWarp>
            <a:normAutofit/>
          </a:bodyPr>
          <a:lstStyle/>
          <a:p>
            <a:pPr>
              <a:defRPr/>
            </a:pPr>
            <a:r>
              <a:rPr lang="en-IN" altLang="en-US" sz="1600" b="1" dirty="0"/>
              <a:t>Dataset 1 (Only Used for fault classification)</a:t>
            </a:r>
          </a:p>
          <a:p>
            <a:pPr marL="0" indent="0">
              <a:buNone/>
              <a:defRPr/>
            </a:pPr>
            <a:r>
              <a:rPr lang="en-IN" altLang="en-US" sz="1600" dirty="0"/>
              <a:t>Got Power system simulated fault analysis MATLAB data .The system consists of 4 generators </a:t>
            </a:r>
            <a:r>
              <a:rPr lang="en-US" sz="1600" dirty="0"/>
              <a:t> 11 × 10^3 V,</a:t>
            </a:r>
            <a:r>
              <a:rPr lang="en-IN" altLang="en-US" sz="1600" dirty="0"/>
              <a:t> Transformers are present in between to simulate and study the various faults at the midpoint of the transmission line</a:t>
            </a:r>
          </a:p>
          <a:p>
            <a:pPr marL="0" indent="0">
              <a:buNone/>
              <a:defRPr/>
            </a:pPr>
            <a:r>
              <a:rPr lang="en-US" sz="1600" dirty="0"/>
              <a:t>The circuit was tested under normal and various fault conditions to collect data on the measured line voltages and currents at the output side of the power system. The collected data, which consisted of nearly 12,000 labeled data points, was then saved for analysis</a:t>
            </a:r>
            <a:endParaRPr lang="en-IN" altLang="en-US" sz="1600" dirty="0"/>
          </a:p>
          <a:p>
            <a:pPr>
              <a:defRPr/>
            </a:pPr>
            <a:r>
              <a:rPr lang="en-IN" altLang="en-US" sz="1600" b="1" dirty="0"/>
              <a:t>Dataset 2 ( Used for both fault classification and Fault Location)</a:t>
            </a:r>
          </a:p>
          <a:p>
            <a:pPr marL="0" indent="0">
              <a:buNone/>
              <a:defRPr/>
            </a:pPr>
            <a:r>
              <a:rPr lang="en-US" altLang="en-US" sz="1600" dirty="0"/>
              <a:t>A simulation tool known as Power Factory is used to simulate a 9-bus system in which the various faults is simulated on line connecting bus 5 and 7 The data of currents and voltages are captured from bus 5.</a:t>
            </a:r>
          </a:p>
          <a:p>
            <a:pPr marL="0" indent="0">
              <a:buNone/>
              <a:defRPr/>
            </a:pPr>
            <a:r>
              <a:rPr lang="en-US" altLang="en-US" sz="1600" dirty="0"/>
              <a:t>Th</a:t>
            </a:r>
            <a:r>
              <a:rPr lang="en-IN" altLang="en-US" sz="1600" dirty="0"/>
              <a:t>e second dataset contains 10 fault types mainly AG , BG ,CG ,ABG, BCG, CAG ,AB ,BC,CA,ABC and fault location from 5 to 100 with step size</a:t>
            </a:r>
            <a:endParaRPr lang="en-IN" altLang="en-US" sz="1600" b="1" dirty="0"/>
          </a:p>
          <a:p>
            <a:pPr marL="0" indent="0">
              <a:buNone/>
              <a:defRPr/>
            </a:pPr>
            <a:endParaRPr lang="en-US" altLang="en-US" sz="68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US" altLang="en-US" sz="2900" dirty="0">
              <a:solidFill>
                <a:srgbClr val="3C4043"/>
              </a:solidFill>
            </a:endParaRPr>
          </a:p>
          <a:p>
            <a:pPr marL="0" indent="0">
              <a:buNone/>
              <a:defRPr/>
            </a:pPr>
            <a:endParaRPr lang="en-IN" altLang="en-US" sz="1800" b="1" dirty="0"/>
          </a:p>
          <a:p>
            <a:pPr marL="0" indent="0">
              <a:buNone/>
              <a:defRPr/>
            </a:pPr>
            <a:endParaRPr lang="en-IN" altLang="en-US" sz="1800" b="1" dirty="0"/>
          </a:p>
          <a:p>
            <a:pPr marL="0" indent="0">
              <a:buNone/>
              <a:defRPr/>
            </a:pPr>
            <a:endParaRPr lang="en-IN" altLang="en-US" sz="6800" b="1" dirty="0"/>
          </a:p>
        </p:txBody>
      </p:sp>
      <p:pic>
        <p:nvPicPr>
          <p:cNvPr id="2" name="Picture 5">
            <a:extLst>
              <a:ext uri="{FF2B5EF4-FFF2-40B4-BE49-F238E27FC236}">
                <a16:creationId xmlns:a16="http://schemas.microsoft.com/office/drawing/2014/main" id="{735B3E36-372F-E200-EEDE-732A8C620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4527549"/>
            <a:ext cx="4608513"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descr="Institution of Eminence Logo unveiled |">
            <a:extLst>
              <a:ext uri="{FF2B5EF4-FFF2-40B4-BE49-F238E27FC236}">
                <a16:creationId xmlns:a16="http://schemas.microsoft.com/office/drawing/2014/main" id="{61DEFE6C-97F0-C03B-971B-5C7BEDE31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University of Hyderabad, India">
            <a:extLst>
              <a:ext uri="{FF2B5EF4-FFF2-40B4-BE49-F238E27FC236}">
                <a16:creationId xmlns:a16="http://schemas.microsoft.com/office/drawing/2014/main" id="{82B300C7-2A40-D965-C6E7-2E39A2C4CB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09" y="129124"/>
            <a:ext cx="2186078" cy="1207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B3C8EAA-BB29-1ACD-E7C9-37F887B55E14}"/>
              </a:ext>
            </a:extLst>
          </p:cNvPr>
          <p:cNvSpPr>
            <a:spLocks noGrp="1"/>
          </p:cNvSpPr>
          <p:nvPr>
            <p:ph type="title"/>
          </p:nvPr>
        </p:nvSpPr>
        <p:spPr bwMode="auto">
          <a:xfrm>
            <a:off x="3203575" y="269876"/>
            <a:ext cx="5988050" cy="85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IN" altLang="en-US" sz="2700" b="1" dirty="0"/>
              <a:t>    Dataset 1 Information</a:t>
            </a:r>
            <a:br>
              <a:rPr altLang="en-US" sz="2800" b="1" dirty="0"/>
            </a:br>
            <a:endParaRPr altLang="en-US" sz="2800" b="1" dirty="0"/>
          </a:p>
        </p:txBody>
      </p:sp>
      <p:sp>
        <p:nvSpPr>
          <p:cNvPr id="28675" name="Content Placeholder 1">
            <a:extLst>
              <a:ext uri="{FF2B5EF4-FFF2-40B4-BE49-F238E27FC236}">
                <a16:creationId xmlns:a16="http://schemas.microsoft.com/office/drawing/2014/main" id="{E2939E79-77D4-7280-2E6A-F758BFDD4A07}"/>
              </a:ext>
            </a:extLst>
          </p:cNvPr>
          <p:cNvSpPr>
            <a:spLocks noGrp="1"/>
          </p:cNvSpPr>
          <p:nvPr>
            <p:ph idx="1"/>
          </p:nvPr>
        </p:nvSpPr>
        <p:spPr bwMode="auto">
          <a:xfrm>
            <a:off x="1014217" y="1280318"/>
            <a:ext cx="10580752" cy="4865958"/>
          </a:xfrm>
        </p:spPr>
        <p:txBody>
          <a:bodyPr vert="horz" wrap="square" lIns="91440" tIns="45720" rIns="91440" bIns="45720" numCol="1" rtlCol="0" anchor="t" anchorCtr="0" compatLnSpc="1">
            <a:prstTxWarp prst="textNoShape">
              <a:avLst/>
            </a:prstTxWarp>
            <a:normAutofit/>
          </a:bodyPr>
          <a:lstStyle/>
          <a:p>
            <a:pPr>
              <a:buFont typeface="Wingdings" panose="05000000000000000000" pitchFamily="2" charset="2"/>
              <a:buChar char="§"/>
              <a:defRPr/>
            </a:pPr>
            <a:r>
              <a:rPr lang="en-IN" altLang="en-US" sz="2200" dirty="0"/>
              <a:t>Data consists of 10 columns Ia Ib Ic , Va , </a:t>
            </a:r>
            <a:r>
              <a:rPr lang="en-IN" altLang="en-US" sz="2200" dirty="0" err="1"/>
              <a:t>Vb</a:t>
            </a:r>
            <a:r>
              <a:rPr lang="en-IN" altLang="en-US" sz="2200" dirty="0"/>
              <a:t> , </a:t>
            </a:r>
            <a:r>
              <a:rPr lang="en-IN" altLang="en-US" sz="2200" dirty="0" err="1"/>
              <a:t>Vc</a:t>
            </a:r>
            <a:r>
              <a:rPr lang="en-IN" altLang="en-US" sz="2200" dirty="0"/>
              <a:t> , G , A , B , C . </a:t>
            </a:r>
          </a:p>
          <a:p>
            <a:pPr>
              <a:buFont typeface="Wingdings" panose="05000000000000000000" pitchFamily="2" charset="2"/>
              <a:buChar char="§"/>
              <a:defRPr/>
            </a:pPr>
            <a:r>
              <a:rPr lang="en-IN" altLang="en-US" sz="2200" dirty="0"/>
              <a:t>Based on the G , A , B ,C values which are either 0 or 1 the data can be classified into the following faults – No fault (0000) , AG fault (1100) , BG fault (1010) , CG fault(1001) , ABG fault (1110) , ABC fault (0111) , ABCG fault (1111)</a:t>
            </a:r>
          </a:p>
          <a:p>
            <a:pPr>
              <a:buFont typeface="Wingdings" panose="05000000000000000000" pitchFamily="2" charset="2"/>
              <a:buChar char="§"/>
              <a:defRPr/>
            </a:pPr>
            <a:r>
              <a:rPr lang="en-IN" altLang="en-US" sz="2200" dirty="0"/>
              <a:t>A new column is created named Fault type where fault type is specified based on G,A,B,C values and then they are visualised using Matplotlib  </a:t>
            </a:r>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000" dirty="0"/>
          </a:p>
          <a:p>
            <a:pPr marL="0" indent="0">
              <a:buNone/>
              <a:defRPr/>
            </a:pPr>
            <a:endParaRPr lang="en-IN" altLang="en-US" sz="1000" dirty="0"/>
          </a:p>
          <a:p>
            <a:pPr marL="0" indent="0">
              <a:buNone/>
              <a:defRPr/>
            </a:pPr>
            <a:endParaRPr lang="en-IN" altLang="en-US" sz="10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a:buFont typeface="Wingdings" panose="05000000000000000000" pitchFamily="2" charset="2"/>
              <a:buChar char="§"/>
              <a:defRPr/>
            </a:pPr>
            <a:endParaRPr lang="en-IN" altLang="en-US" sz="1200" dirty="0"/>
          </a:p>
          <a:p>
            <a:pPr marL="0" indent="0">
              <a:buNone/>
              <a:defRPr/>
            </a:pPr>
            <a:endParaRPr lang="en-IN" altLang="en-US" sz="1200" dirty="0"/>
          </a:p>
          <a:p>
            <a:pPr>
              <a:buFont typeface="Wingdings" panose="05000000000000000000" pitchFamily="2" charset="2"/>
              <a:buChar char="§"/>
              <a:defRPr/>
            </a:pPr>
            <a:endParaRPr lang="en-IN" altLang="en-US" sz="1200" dirty="0"/>
          </a:p>
          <a:p>
            <a:pPr marL="0" indent="0">
              <a:buNone/>
              <a:defRPr/>
            </a:pPr>
            <a:endParaRPr lang="en-IN" altLang="en-US" sz="1800" b="1" dirty="0"/>
          </a:p>
        </p:txBody>
      </p:sp>
      <p:pic>
        <p:nvPicPr>
          <p:cNvPr id="45060" name="Picture 2">
            <a:extLst>
              <a:ext uri="{FF2B5EF4-FFF2-40B4-BE49-F238E27FC236}">
                <a16:creationId xmlns:a16="http://schemas.microsoft.com/office/drawing/2014/main" id="{B586F235-71CA-C2AE-41C3-83649E805E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456" y="4144170"/>
            <a:ext cx="6826555" cy="215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University of Hyderabad, India">
            <a:extLst>
              <a:ext uri="{FF2B5EF4-FFF2-40B4-BE49-F238E27FC236}">
                <a16:creationId xmlns:a16="http://schemas.microsoft.com/office/drawing/2014/main" id="{0B6F425E-51EF-D878-AAAF-5C0FA1314C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09" y="129124"/>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94CDBE4B-1C5F-77CF-9788-86FBA30F4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0686-0186-5E69-66D5-DFA72584436C}"/>
              </a:ext>
            </a:extLst>
          </p:cNvPr>
          <p:cNvSpPr>
            <a:spLocks noGrp="1"/>
          </p:cNvSpPr>
          <p:nvPr>
            <p:ph type="title"/>
          </p:nvPr>
        </p:nvSpPr>
        <p:spPr/>
        <p:txBody>
          <a:bodyPr/>
          <a:lstStyle/>
          <a:p>
            <a:pPr algn="ctr"/>
            <a:r>
              <a:rPr lang="en-US" dirty="0"/>
              <a:t>Dataset1 Continued..</a:t>
            </a:r>
            <a:endParaRPr lang="en-IN" dirty="0"/>
          </a:p>
        </p:txBody>
      </p:sp>
      <p:sp>
        <p:nvSpPr>
          <p:cNvPr id="3" name="Content Placeholder 2">
            <a:extLst>
              <a:ext uri="{FF2B5EF4-FFF2-40B4-BE49-F238E27FC236}">
                <a16:creationId xmlns:a16="http://schemas.microsoft.com/office/drawing/2014/main" id="{2E9F35E2-3897-AC0E-BA65-EBE4DBA73F2F}"/>
              </a:ext>
            </a:extLst>
          </p:cNvPr>
          <p:cNvSpPr>
            <a:spLocks noGrp="1"/>
          </p:cNvSpPr>
          <p:nvPr>
            <p:ph idx="1"/>
          </p:nvPr>
        </p:nvSpPr>
        <p:spPr/>
        <p:txBody>
          <a:bodyPr/>
          <a:lstStyle/>
          <a:p>
            <a:pPr>
              <a:buFont typeface="Wingdings" panose="05000000000000000000" pitchFamily="2" charset="2"/>
              <a:buChar char="§"/>
              <a:defRPr/>
            </a:pPr>
            <a:r>
              <a:rPr lang="en-IN" altLang="en-US" sz="2800" dirty="0"/>
              <a:t>The data is then separated into 7 data frames so that Ia Ib , Ic values can be plotted separately </a:t>
            </a:r>
          </a:p>
          <a:p>
            <a:pPr marL="0" indent="0">
              <a:buFont typeface="Arial" panose="020B0604020202020204" pitchFamily="34" charset="0"/>
              <a:buNone/>
              <a:defRPr/>
            </a:pPr>
            <a:r>
              <a:rPr lang="en-IN" altLang="en-US" sz="2800" dirty="0"/>
              <a:t>Red – AG fault , Magenta – ABG fault , Green – BC fault , Black – ABC fault , Cyan – ABCG fault , Blue – No fault </a:t>
            </a:r>
          </a:p>
          <a:p>
            <a:pPr>
              <a:buFont typeface="Wingdings" panose="05000000000000000000" pitchFamily="2" charset="2"/>
              <a:buChar char="§"/>
              <a:defRPr/>
            </a:pPr>
            <a:endParaRPr lang="en-IN" altLang="en-US" sz="2800" dirty="0"/>
          </a:p>
          <a:p>
            <a:endParaRPr lang="en-IN" dirty="0"/>
          </a:p>
        </p:txBody>
      </p:sp>
      <p:pic>
        <p:nvPicPr>
          <p:cNvPr id="4" name="Picture 14">
            <a:extLst>
              <a:ext uri="{FF2B5EF4-FFF2-40B4-BE49-F238E27FC236}">
                <a16:creationId xmlns:a16="http://schemas.microsoft.com/office/drawing/2014/main" id="{0F496CDF-0BF9-97F8-1CA8-E49EE953F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764" y="3856071"/>
            <a:ext cx="3404015" cy="157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37E2CDA1-D4E8-491C-F22B-9C48A77853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5978" y="3856071"/>
            <a:ext cx="3597219" cy="165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a:extLst>
              <a:ext uri="{FF2B5EF4-FFF2-40B4-BE49-F238E27FC236}">
                <a16:creationId xmlns:a16="http://schemas.microsoft.com/office/drawing/2014/main" id="{9A17D7A4-C48D-58DD-47FA-9D6332FE3D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3197" y="3771230"/>
            <a:ext cx="3649749" cy="1837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University of Hyderabad, India">
            <a:extLst>
              <a:ext uri="{FF2B5EF4-FFF2-40B4-BE49-F238E27FC236}">
                <a16:creationId xmlns:a16="http://schemas.microsoft.com/office/drawing/2014/main" id="{7462320E-7EF1-1038-A5C1-6D164A28FA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Institution of Eminence Logo unveiled |">
            <a:extLst>
              <a:ext uri="{FF2B5EF4-FFF2-40B4-BE49-F238E27FC236}">
                <a16:creationId xmlns:a16="http://schemas.microsoft.com/office/drawing/2014/main" id="{51709222-BA05-32A4-3624-DFE1141822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31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4919-7861-0BF9-621A-CF1C055FA5FB}"/>
              </a:ext>
            </a:extLst>
          </p:cNvPr>
          <p:cNvSpPr>
            <a:spLocks noGrp="1"/>
          </p:cNvSpPr>
          <p:nvPr>
            <p:ph type="title"/>
          </p:nvPr>
        </p:nvSpPr>
        <p:spPr/>
        <p:txBody>
          <a:bodyPr/>
          <a:lstStyle/>
          <a:p>
            <a:r>
              <a:rPr lang="en-US" dirty="0"/>
              <a:t>                     Dataset 2 Information</a:t>
            </a:r>
            <a:endParaRPr lang="en-IN" dirty="0"/>
          </a:p>
        </p:txBody>
      </p:sp>
      <p:sp>
        <p:nvSpPr>
          <p:cNvPr id="3" name="Content Placeholder 2">
            <a:extLst>
              <a:ext uri="{FF2B5EF4-FFF2-40B4-BE49-F238E27FC236}">
                <a16:creationId xmlns:a16="http://schemas.microsoft.com/office/drawing/2014/main" id="{E60359EB-04F1-C2C1-55D3-839DA93F0891}"/>
              </a:ext>
            </a:extLst>
          </p:cNvPr>
          <p:cNvSpPr>
            <a:spLocks noGrp="1"/>
          </p:cNvSpPr>
          <p:nvPr>
            <p:ph idx="1"/>
          </p:nvPr>
        </p:nvSpPr>
        <p:spPr/>
        <p:txBody>
          <a:bodyPr/>
          <a:lstStyle/>
          <a:p>
            <a:pPr>
              <a:defRPr/>
            </a:pPr>
            <a:r>
              <a:rPr lang="en-IN" altLang="en-US" sz="2800" dirty="0"/>
              <a:t>The second dataset contains 10 fault types mainly AG , BG ,CG ,ABG, BCG, CAG ,AB ,BC,CA,ABC and fault location from 5,100 with step size of 5. </a:t>
            </a:r>
          </a:p>
          <a:p>
            <a:pPr>
              <a:defRPr/>
            </a:pPr>
            <a:r>
              <a:rPr lang="en-IN" altLang="en-US" sz="2800" dirty="0"/>
              <a:t>Firstly, this dataset is used for fault location detection </a:t>
            </a:r>
          </a:p>
          <a:p>
            <a:pPr>
              <a:defRPr/>
            </a:pPr>
            <a:r>
              <a:rPr lang="en-IN" altLang="en-US" sz="2800" dirty="0"/>
              <a:t>The training data consists of fault CG and locations from 5 to 100 , with fault resistance as 20  </a:t>
            </a:r>
          </a:p>
          <a:p>
            <a:pPr>
              <a:defRPr/>
            </a:pPr>
            <a:r>
              <a:rPr lang="en-IN" altLang="en-US" sz="2800" dirty="0"/>
              <a:t>The test dataset contains location from 5 to 100 with fault resistance as 25.</a:t>
            </a:r>
          </a:p>
          <a:p>
            <a:pPr>
              <a:defRPr/>
            </a:pPr>
            <a:endParaRPr lang="en-IN" altLang="en-US" sz="2800" dirty="0"/>
          </a:p>
          <a:p>
            <a:endParaRPr lang="en-IN" dirty="0"/>
          </a:p>
        </p:txBody>
      </p:sp>
      <p:pic>
        <p:nvPicPr>
          <p:cNvPr id="4" name="Picture 4" descr="University of Hyderabad, India">
            <a:extLst>
              <a:ext uri="{FF2B5EF4-FFF2-40B4-BE49-F238E27FC236}">
                <a16:creationId xmlns:a16="http://schemas.microsoft.com/office/drawing/2014/main" id="{FB9CF833-B33F-98A8-07DB-9744A212C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nstitution of Eminence Logo unveiled |">
            <a:extLst>
              <a:ext uri="{FF2B5EF4-FFF2-40B4-BE49-F238E27FC236}">
                <a16:creationId xmlns:a16="http://schemas.microsoft.com/office/drawing/2014/main" id="{9C0308FD-4DF1-F130-287B-15CF3AF90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656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0A59F-E930-F131-4B28-EE94008A5407}"/>
              </a:ext>
            </a:extLst>
          </p:cNvPr>
          <p:cNvSpPr>
            <a:spLocks noGrp="1"/>
          </p:cNvSpPr>
          <p:nvPr>
            <p:ph type="title"/>
          </p:nvPr>
        </p:nvSpPr>
        <p:spPr>
          <a:xfrm>
            <a:off x="2140687" y="741427"/>
            <a:ext cx="8521028" cy="1077946"/>
          </a:xfrm>
        </p:spPr>
        <p:txBody>
          <a:bodyPr>
            <a:normAutofit fontScale="90000"/>
          </a:bodyPr>
          <a:lstStyle/>
          <a:p>
            <a:r>
              <a:rPr lang="en-US" dirty="0"/>
              <a:t>               Accuracy Validation</a:t>
            </a:r>
            <a:br>
              <a:rPr lang="en-US" dirty="0"/>
            </a:br>
            <a:r>
              <a:rPr lang="en-US" dirty="0"/>
              <a:t>Performance Metrics of Lite Models</a:t>
            </a:r>
            <a:endParaRPr lang="en-IN" dirty="0"/>
          </a:p>
        </p:txBody>
      </p:sp>
      <p:sp>
        <p:nvSpPr>
          <p:cNvPr id="3" name="Text Placeholder 2">
            <a:extLst>
              <a:ext uri="{FF2B5EF4-FFF2-40B4-BE49-F238E27FC236}">
                <a16:creationId xmlns:a16="http://schemas.microsoft.com/office/drawing/2014/main" id="{47141AA6-BB3C-62AC-C40B-6AE0CF0DF40B}"/>
              </a:ext>
            </a:extLst>
          </p:cNvPr>
          <p:cNvSpPr>
            <a:spLocks noGrp="1"/>
          </p:cNvSpPr>
          <p:nvPr>
            <p:ph type="body" idx="1"/>
          </p:nvPr>
        </p:nvSpPr>
        <p:spPr>
          <a:xfrm>
            <a:off x="198440" y="1819373"/>
            <a:ext cx="5799136" cy="685702"/>
          </a:xfrm>
        </p:spPr>
        <p:txBody>
          <a:bodyPr/>
          <a:lstStyle/>
          <a:p>
            <a:pPr algn="ctr"/>
            <a:r>
              <a:rPr lang="en-US" dirty="0"/>
              <a:t>Fault Classification Model</a:t>
            </a:r>
            <a:endParaRPr lang="en-IN" dirty="0"/>
          </a:p>
        </p:txBody>
      </p:sp>
      <p:sp>
        <p:nvSpPr>
          <p:cNvPr id="5" name="Text Placeholder 4">
            <a:extLst>
              <a:ext uri="{FF2B5EF4-FFF2-40B4-BE49-F238E27FC236}">
                <a16:creationId xmlns:a16="http://schemas.microsoft.com/office/drawing/2014/main" id="{EB06AC12-FBC2-C8A1-4E6D-5536EAC1A086}"/>
              </a:ext>
            </a:extLst>
          </p:cNvPr>
          <p:cNvSpPr>
            <a:spLocks noGrp="1"/>
          </p:cNvSpPr>
          <p:nvPr>
            <p:ph type="body" sz="quarter" idx="3"/>
          </p:nvPr>
        </p:nvSpPr>
        <p:spPr>
          <a:xfrm>
            <a:off x="6096000" y="1819373"/>
            <a:ext cx="5131324" cy="685702"/>
          </a:xfrm>
        </p:spPr>
        <p:txBody>
          <a:bodyPr/>
          <a:lstStyle/>
          <a:p>
            <a:pPr algn="ctr"/>
            <a:r>
              <a:rPr lang="en-US" dirty="0"/>
              <a:t>Fault Location Model</a:t>
            </a:r>
            <a:endParaRPr lang="en-IN" dirty="0"/>
          </a:p>
        </p:txBody>
      </p:sp>
      <p:graphicFrame>
        <p:nvGraphicFramePr>
          <p:cNvPr id="7" name="Content Placeholder 6">
            <a:extLst>
              <a:ext uri="{FF2B5EF4-FFF2-40B4-BE49-F238E27FC236}">
                <a16:creationId xmlns:a16="http://schemas.microsoft.com/office/drawing/2014/main" id="{4FE1C838-DE45-9436-9AAA-25725B78AFC1}"/>
              </a:ext>
            </a:extLst>
          </p:cNvPr>
          <p:cNvGraphicFramePr>
            <a:graphicFrameLocks noGrp="1"/>
          </p:cNvGraphicFramePr>
          <p:nvPr>
            <p:ph sz="half" idx="2"/>
            <p:extLst>
              <p:ext uri="{D42A27DB-BD31-4B8C-83A1-F6EECF244321}">
                <p14:modId xmlns:p14="http://schemas.microsoft.com/office/powerpoint/2010/main" val="1929728855"/>
              </p:ext>
            </p:extLst>
          </p:nvPr>
        </p:nvGraphicFramePr>
        <p:xfrm>
          <a:off x="198439" y="2505075"/>
          <a:ext cx="5799135" cy="4008120"/>
        </p:xfrm>
        <a:graphic>
          <a:graphicData uri="http://schemas.openxmlformats.org/drawingml/2006/table">
            <a:tbl>
              <a:tblPr firstRow="1" bandRow="1">
                <a:tableStyleId>{5C22544A-7EE6-4342-B048-85BDC9FD1C3A}</a:tableStyleId>
              </a:tblPr>
              <a:tblGrid>
                <a:gridCol w="1933045">
                  <a:extLst>
                    <a:ext uri="{9D8B030D-6E8A-4147-A177-3AD203B41FA5}">
                      <a16:colId xmlns:a16="http://schemas.microsoft.com/office/drawing/2014/main" val="3867685495"/>
                    </a:ext>
                  </a:extLst>
                </a:gridCol>
                <a:gridCol w="1933045">
                  <a:extLst>
                    <a:ext uri="{9D8B030D-6E8A-4147-A177-3AD203B41FA5}">
                      <a16:colId xmlns:a16="http://schemas.microsoft.com/office/drawing/2014/main" val="4248200406"/>
                    </a:ext>
                  </a:extLst>
                </a:gridCol>
                <a:gridCol w="1933045">
                  <a:extLst>
                    <a:ext uri="{9D8B030D-6E8A-4147-A177-3AD203B41FA5}">
                      <a16:colId xmlns:a16="http://schemas.microsoft.com/office/drawing/2014/main" val="2664863398"/>
                    </a:ext>
                  </a:extLst>
                </a:gridCol>
              </a:tblGrid>
              <a:tr h="493168">
                <a:tc>
                  <a:txBody>
                    <a:bodyPr/>
                    <a:lstStyle/>
                    <a:p>
                      <a:pPr algn="ctr"/>
                      <a:r>
                        <a:rPr lang="en-US" dirty="0"/>
                        <a:t>Model</a:t>
                      </a:r>
                      <a:endParaRPr lang="en-IN" dirty="0"/>
                    </a:p>
                  </a:txBody>
                  <a:tcPr/>
                </a:tc>
                <a:tc>
                  <a:txBody>
                    <a:bodyPr/>
                    <a:lstStyle/>
                    <a:p>
                      <a:pPr algn="ctr"/>
                      <a:r>
                        <a:rPr lang="en-US" dirty="0"/>
                        <a:t>Size</a:t>
                      </a:r>
                      <a:endParaRPr lang="en-IN" dirty="0"/>
                    </a:p>
                  </a:txBody>
                  <a:tcPr/>
                </a:tc>
                <a:tc>
                  <a:txBody>
                    <a:bodyPr/>
                    <a:lstStyle/>
                    <a:p>
                      <a:pPr algn="ctr"/>
                      <a:r>
                        <a:rPr lang="en-US" dirty="0"/>
                        <a:t>Accuracy</a:t>
                      </a:r>
                      <a:endParaRPr lang="en-IN" dirty="0"/>
                    </a:p>
                  </a:txBody>
                  <a:tcPr/>
                </a:tc>
                <a:extLst>
                  <a:ext uri="{0D108BD9-81ED-4DB2-BD59-A6C34878D82A}">
                    <a16:rowId xmlns:a16="http://schemas.microsoft.com/office/drawing/2014/main" val="3938279564"/>
                  </a:ext>
                </a:extLst>
              </a:tr>
              <a:tr h="664991">
                <a:tc>
                  <a:txBody>
                    <a:bodyPr/>
                    <a:lstStyle/>
                    <a:p>
                      <a:pPr algn="ctr"/>
                      <a:r>
                        <a:rPr lang="en-US" dirty="0"/>
                        <a:t>Actual Tensorflow Model</a:t>
                      </a:r>
                      <a:endParaRPr lang="en-IN" dirty="0"/>
                    </a:p>
                  </a:txBody>
                  <a:tcPr/>
                </a:tc>
                <a:tc>
                  <a:txBody>
                    <a:bodyPr/>
                    <a:lstStyle/>
                    <a:p>
                      <a:pPr algn="ctr"/>
                      <a:r>
                        <a:rPr lang="en-US" dirty="0"/>
                        <a:t>202 KB</a:t>
                      </a:r>
                      <a:endParaRPr lang="en-IN" dirty="0"/>
                    </a:p>
                  </a:txBody>
                  <a:tcPr/>
                </a:tc>
                <a:tc>
                  <a:txBody>
                    <a:bodyPr/>
                    <a:lstStyle/>
                    <a:p>
                      <a:pPr algn="ctr"/>
                      <a:r>
                        <a:rPr lang="en-US" dirty="0"/>
                        <a:t>99.33%</a:t>
                      </a:r>
                      <a:endParaRPr lang="en-IN" dirty="0"/>
                    </a:p>
                  </a:txBody>
                  <a:tcPr/>
                </a:tc>
                <a:extLst>
                  <a:ext uri="{0D108BD9-81ED-4DB2-BD59-A6C34878D82A}">
                    <a16:rowId xmlns:a16="http://schemas.microsoft.com/office/drawing/2014/main" val="4114213944"/>
                  </a:ext>
                </a:extLst>
              </a:tr>
              <a:tr h="949987">
                <a:tc>
                  <a:txBody>
                    <a:bodyPr/>
                    <a:lstStyle/>
                    <a:p>
                      <a:pPr algn="ctr"/>
                      <a:r>
                        <a:rPr lang="en-US" dirty="0"/>
                        <a:t>Converted Model without specifying quantization</a:t>
                      </a:r>
                      <a:endParaRPr lang="en-IN" dirty="0"/>
                    </a:p>
                  </a:txBody>
                  <a:tcPr/>
                </a:tc>
                <a:tc>
                  <a:txBody>
                    <a:bodyPr/>
                    <a:lstStyle/>
                    <a:p>
                      <a:pPr algn="ctr"/>
                      <a:r>
                        <a:rPr lang="en-US" dirty="0"/>
                        <a:t>57 KB</a:t>
                      </a:r>
                      <a:endParaRPr lang="en-IN" dirty="0"/>
                    </a:p>
                  </a:txBody>
                  <a:tcPr/>
                </a:tc>
                <a:tc>
                  <a:txBody>
                    <a:bodyPr/>
                    <a:lstStyle/>
                    <a:p>
                      <a:pPr algn="ctr"/>
                      <a:r>
                        <a:rPr lang="en-US" dirty="0"/>
                        <a:t>99.22%</a:t>
                      </a:r>
                      <a:endParaRPr lang="en-IN" dirty="0"/>
                    </a:p>
                  </a:txBody>
                  <a:tcPr/>
                </a:tc>
                <a:extLst>
                  <a:ext uri="{0D108BD9-81ED-4DB2-BD59-A6C34878D82A}">
                    <a16:rowId xmlns:a16="http://schemas.microsoft.com/office/drawing/2014/main" val="3580591989"/>
                  </a:ext>
                </a:extLst>
              </a:tr>
              <a:tr h="949987">
                <a:tc>
                  <a:txBody>
                    <a:bodyPr/>
                    <a:lstStyle/>
                    <a:p>
                      <a:pPr algn="ctr"/>
                      <a:r>
                        <a:rPr lang="en-US" dirty="0"/>
                        <a:t>Converted Model with Float16 quantization</a:t>
                      </a:r>
                      <a:endParaRPr lang="en-IN" dirty="0"/>
                    </a:p>
                  </a:txBody>
                  <a:tcPr/>
                </a:tc>
                <a:tc>
                  <a:txBody>
                    <a:bodyPr/>
                    <a:lstStyle/>
                    <a:p>
                      <a:pPr algn="ctr"/>
                      <a:r>
                        <a:rPr lang="en-US" dirty="0"/>
                        <a:t>31 KB</a:t>
                      </a:r>
                      <a:endParaRPr lang="en-IN" dirty="0"/>
                    </a:p>
                  </a:txBody>
                  <a:tcPr/>
                </a:tc>
                <a:tc>
                  <a:txBody>
                    <a:bodyPr/>
                    <a:lstStyle/>
                    <a:p>
                      <a:pPr algn="ctr"/>
                      <a:r>
                        <a:rPr lang="en-US" dirty="0"/>
                        <a:t>99.22%</a:t>
                      </a:r>
                      <a:endParaRPr lang="en-IN" dirty="0"/>
                    </a:p>
                  </a:txBody>
                  <a:tcPr/>
                </a:tc>
                <a:extLst>
                  <a:ext uri="{0D108BD9-81ED-4DB2-BD59-A6C34878D82A}">
                    <a16:rowId xmlns:a16="http://schemas.microsoft.com/office/drawing/2014/main" val="2937069587"/>
                  </a:ext>
                </a:extLst>
              </a:tr>
              <a:tr h="949987">
                <a:tc>
                  <a:txBody>
                    <a:bodyPr/>
                    <a:lstStyle/>
                    <a:p>
                      <a:pPr algn="ctr"/>
                      <a:r>
                        <a:rPr lang="en-US" dirty="0"/>
                        <a:t>Converted Model with Dynamic quantization</a:t>
                      </a:r>
                      <a:endParaRPr lang="en-IN" dirty="0"/>
                    </a:p>
                  </a:txBody>
                  <a:tcPr/>
                </a:tc>
                <a:tc>
                  <a:txBody>
                    <a:bodyPr/>
                    <a:lstStyle/>
                    <a:p>
                      <a:pPr algn="ctr"/>
                      <a:r>
                        <a:rPr lang="en-US" dirty="0"/>
                        <a:t>22 KB</a:t>
                      </a:r>
                      <a:endParaRPr lang="en-IN" dirty="0"/>
                    </a:p>
                  </a:txBody>
                  <a:tcPr/>
                </a:tc>
                <a:tc>
                  <a:txBody>
                    <a:bodyPr/>
                    <a:lstStyle/>
                    <a:p>
                      <a:pPr algn="ctr"/>
                      <a:r>
                        <a:rPr lang="en-US" dirty="0"/>
                        <a:t>99.21%</a:t>
                      </a:r>
                      <a:endParaRPr lang="en-IN" dirty="0"/>
                    </a:p>
                  </a:txBody>
                  <a:tcPr/>
                </a:tc>
                <a:extLst>
                  <a:ext uri="{0D108BD9-81ED-4DB2-BD59-A6C34878D82A}">
                    <a16:rowId xmlns:a16="http://schemas.microsoft.com/office/drawing/2014/main" val="2818476224"/>
                  </a:ext>
                </a:extLst>
              </a:tr>
            </a:tbl>
          </a:graphicData>
        </a:graphic>
      </p:graphicFrame>
      <p:sp>
        <p:nvSpPr>
          <p:cNvPr id="13" name="Content Placeholder 12">
            <a:extLst>
              <a:ext uri="{FF2B5EF4-FFF2-40B4-BE49-F238E27FC236}">
                <a16:creationId xmlns:a16="http://schemas.microsoft.com/office/drawing/2014/main" id="{E49389C5-6C09-2BCB-D33A-543A4D3C5483}"/>
              </a:ext>
            </a:extLst>
          </p:cNvPr>
          <p:cNvSpPr>
            <a:spLocks noGrp="1"/>
          </p:cNvSpPr>
          <p:nvPr>
            <p:ph sz="quarter" idx="4"/>
          </p:nvPr>
        </p:nvSpPr>
        <p:spPr/>
        <p:txBody>
          <a:bodyPr/>
          <a:lstStyle/>
          <a:p>
            <a:endParaRPr lang="en-IN"/>
          </a:p>
        </p:txBody>
      </p:sp>
      <p:graphicFrame>
        <p:nvGraphicFramePr>
          <p:cNvPr id="14" name="Content Placeholder 6">
            <a:extLst>
              <a:ext uri="{FF2B5EF4-FFF2-40B4-BE49-F238E27FC236}">
                <a16:creationId xmlns:a16="http://schemas.microsoft.com/office/drawing/2014/main" id="{BE5C509E-E682-AD84-2B01-03C5498867FA}"/>
              </a:ext>
            </a:extLst>
          </p:cNvPr>
          <p:cNvGraphicFramePr>
            <a:graphicFrameLocks/>
          </p:cNvGraphicFramePr>
          <p:nvPr>
            <p:extLst>
              <p:ext uri="{D42A27DB-BD31-4B8C-83A1-F6EECF244321}">
                <p14:modId xmlns:p14="http://schemas.microsoft.com/office/powerpoint/2010/main" val="1681351246"/>
              </p:ext>
            </p:extLst>
          </p:nvPr>
        </p:nvGraphicFramePr>
        <p:xfrm>
          <a:off x="6172200" y="2505075"/>
          <a:ext cx="5799135" cy="4029318"/>
        </p:xfrm>
        <a:graphic>
          <a:graphicData uri="http://schemas.openxmlformats.org/drawingml/2006/table">
            <a:tbl>
              <a:tblPr firstRow="1" bandRow="1">
                <a:tableStyleId>{5C22544A-7EE6-4342-B048-85BDC9FD1C3A}</a:tableStyleId>
              </a:tblPr>
              <a:tblGrid>
                <a:gridCol w="1933045">
                  <a:extLst>
                    <a:ext uri="{9D8B030D-6E8A-4147-A177-3AD203B41FA5}">
                      <a16:colId xmlns:a16="http://schemas.microsoft.com/office/drawing/2014/main" val="3867685495"/>
                    </a:ext>
                  </a:extLst>
                </a:gridCol>
                <a:gridCol w="1933045">
                  <a:extLst>
                    <a:ext uri="{9D8B030D-6E8A-4147-A177-3AD203B41FA5}">
                      <a16:colId xmlns:a16="http://schemas.microsoft.com/office/drawing/2014/main" val="4248200406"/>
                    </a:ext>
                  </a:extLst>
                </a:gridCol>
                <a:gridCol w="1933045">
                  <a:extLst>
                    <a:ext uri="{9D8B030D-6E8A-4147-A177-3AD203B41FA5}">
                      <a16:colId xmlns:a16="http://schemas.microsoft.com/office/drawing/2014/main" val="2664863398"/>
                    </a:ext>
                  </a:extLst>
                </a:gridCol>
              </a:tblGrid>
              <a:tr h="641028">
                <a:tc>
                  <a:txBody>
                    <a:bodyPr/>
                    <a:lstStyle/>
                    <a:p>
                      <a:pPr algn="ctr"/>
                      <a:r>
                        <a:rPr lang="en-US" dirty="0"/>
                        <a:t>Model</a:t>
                      </a:r>
                      <a:endParaRPr lang="en-IN" dirty="0"/>
                    </a:p>
                  </a:txBody>
                  <a:tcPr/>
                </a:tc>
                <a:tc>
                  <a:txBody>
                    <a:bodyPr/>
                    <a:lstStyle/>
                    <a:p>
                      <a:pPr algn="ctr"/>
                      <a:r>
                        <a:rPr lang="en-US" dirty="0"/>
                        <a:t>Size</a:t>
                      </a:r>
                      <a:endParaRPr lang="en-IN" dirty="0"/>
                    </a:p>
                  </a:txBody>
                  <a:tcPr/>
                </a:tc>
                <a:tc>
                  <a:txBody>
                    <a:bodyPr/>
                    <a:lstStyle/>
                    <a:p>
                      <a:pPr algn="ctr"/>
                      <a:r>
                        <a:rPr lang="en-US" dirty="0"/>
                        <a:t>Mean Absolute Error</a:t>
                      </a:r>
                      <a:endParaRPr lang="en-IN" dirty="0"/>
                    </a:p>
                  </a:txBody>
                  <a:tcPr/>
                </a:tc>
                <a:extLst>
                  <a:ext uri="{0D108BD9-81ED-4DB2-BD59-A6C34878D82A}">
                    <a16:rowId xmlns:a16="http://schemas.microsoft.com/office/drawing/2014/main" val="3938279564"/>
                  </a:ext>
                </a:extLst>
              </a:tr>
              <a:tr h="641028">
                <a:tc>
                  <a:txBody>
                    <a:bodyPr/>
                    <a:lstStyle/>
                    <a:p>
                      <a:pPr algn="ctr"/>
                      <a:r>
                        <a:rPr lang="en-US" dirty="0"/>
                        <a:t>Actual Tensorflow Model</a:t>
                      </a:r>
                      <a:endParaRPr lang="en-IN" dirty="0"/>
                    </a:p>
                  </a:txBody>
                  <a:tcPr/>
                </a:tc>
                <a:tc>
                  <a:txBody>
                    <a:bodyPr/>
                    <a:lstStyle/>
                    <a:p>
                      <a:pPr algn="ctr"/>
                      <a:r>
                        <a:rPr lang="en-US" dirty="0"/>
                        <a:t>1622 KB</a:t>
                      </a:r>
                      <a:endParaRPr lang="en-IN" dirty="0"/>
                    </a:p>
                  </a:txBody>
                  <a:tcPr/>
                </a:tc>
                <a:tc>
                  <a:txBody>
                    <a:bodyPr/>
                    <a:lstStyle/>
                    <a:p>
                      <a:pPr algn="ctr"/>
                      <a:r>
                        <a:rPr lang="en-US" dirty="0"/>
                        <a:t>0.34</a:t>
                      </a:r>
                      <a:endParaRPr lang="en-IN" dirty="0"/>
                    </a:p>
                  </a:txBody>
                  <a:tcPr/>
                </a:tc>
                <a:extLst>
                  <a:ext uri="{0D108BD9-81ED-4DB2-BD59-A6C34878D82A}">
                    <a16:rowId xmlns:a16="http://schemas.microsoft.com/office/drawing/2014/main" val="4114213944"/>
                  </a:ext>
                </a:extLst>
              </a:tr>
              <a:tr h="915754">
                <a:tc>
                  <a:txBody>
                    <a:bodyPr/>
                    <a:lstStyle/>
                    <a:p>
                      <a:pPr algn="ctr"/>
                      <a:r>
                        <a:rPr lang="en-US" dirty="0"/>
                        <a:t>Converted Model without specifying quantization</a:t>
                      </a:r>
                      <a:endParaRPr lang="en-IN" dirty="0"/>
                    </a:p>
                  </a:txBody>
                  <a:tcPr/>
                </a:tc>
                <a:tc>
                  <a:txBody>
                    <a:bodyPr/>
                    <a:lstStyle/>
                    <a:p>
                      <a:pPr algn="ctr"/>
                      <a:r>
                        <a:rPr lang="en-US" dirty="0"/>
                        <a:t>561 KB</a:t>
                      </a:r>
                      <a:endParaRPr lang="en-IN" dirty="0"/>
                    </a:p>
                  </a:txBody>
                  <a:tcPr/>
                </a:tc>
                <a:tc>
                  <a:txBody>
                    <a:bodyPr/>
                    <a:lstStyle/>
                    <a:p>
                      <a:pPr algn="ctr"/>
                      <a:r>
                        <a:rPr lang="en-IN" sz="1800" kern="1200" dirty="0">
                          <a:solidFill>
                            <a:schemeClr val="dk1"/>
                          </a:solidFill>
                          <a:effectLst/>
                          <a:latin typeface="+mn-lt"/>
                          <a:ea typeface="+mn-ea"/>
                          <a:cs typeface="+mn-cs"/>
                        </a:rPr>
                        <a:t>0.40694662</a:t>
                      </a:r>
                      <a:endParaRPr lang="en-IN" dirty="0"/>
                    </a:p>
                  </a:txBody>
                  <a:tcPr/>
                </a:tc>
                <a:extLst>
                  <a:ext uri="{0D108BD9-81ED-4DB2-BD59-A6C34878D82A}">
                    <a16:rowId xmlns:a16="http://schemas.microsoft.com/office/drawing/2014/main" val="3580591989"/>
                  </a:ext>
                </a:extLst>
              </a:tr>
              <a:tr h="915754">
                <a:tc>
                  <a:txBody>
                    <a:bodyPr/>
                    <a:lstStyle/>
                    <a:p>
                      <a:pPr algn="ctr"/>
                      <a:r>
                        <a:rPr lang="en-US" dirty="0"/>
                        <a:t>Converted Model with Float16 quantization</a:t>
                      </a:r>
                      <a:endParaRPr lang="en-IN" dirty="0"/>
                    </a:p>
                  </a:txBody>
                  <a:tcPr/>
                </a:tc>
                <a:tc>
                  <a:txBody>
                    <a:bodyPr/>
                    <a:lstStyle/>
                    <a:p>
                      <a:pPr algn="ctr"/>
                      <a:r>
                        <a:rPr lang="en-US" dirty="0"/>
                        <a:t>305 KB</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mn-lt"/>
                          <a:ea typeface="+mn-ea"/>
                          <a:cs typeface="+mn-cs"/>
                        </a:rPr>
                        <a:t>0.406947</a:t>
                      </a:r>
                      <a:endParaRPr lang="en-IN" dirty="0"/>
                    </a:p>
                    <a:p>
                      <a:pPr algn="ctr"/>
                      <a:endParaRPr lang="en-IN" dirty="0"/>
                    </a:p>
                  </a:txBody>
                  <a:tcPr/>
                </a:tc>
                <a:extLst>
                  <a:ext uri="{0D108BD9-81ED-4DB2-BD59-A6C34878D82A}">
                    <a16:rowId xmlns:a16="http://schemas.microsoft.com/office/drawing/2014/main" val="2937069587"/>
                  </a:ext>
                </a:extLst>
              </a:tr>
              <a:tr h="915754">
                <a:tc>
                  <a:txBody>
                    <a:bodyPr/>
                    <a:lstStyle/>
                    <a:p>
                      <a:pPr algn="ctr"/>
                      <a:r>
                        <a:rPr lang="en-US" dirty="0"/>
                        <a:t>Converted Model with Dynamic quantization</a:t>
                      </a:r>
                      <a:endParaRPr lang="en-IN" dirty="0"/>
                    </a:p>
                  </a:txBody>
                  <a:tcPr/>
                </a:tc>
                <a:tc>
                  <a:txBody>
                    <a:bodyPr/>
                    <a:lstStyle/>
                    <a:p>
                      <a:pPr algn="ctr"/>
                      <a:r>
                        <a:rPr lang="en-US" dirty="0"/>
                        <a:t>197 KB</a:t>
                      </a:r>
                      <a:endParaRPr lang="en-IN" dirty="0"/>
                    </a:p>
                  </a:txBody>
                  <a:tcPr/>
                </a:tc>
                <a:tc>
                  <a:txBody>
                    <a:bodyPr/>
                    <a:lstStyle/>
                    <a:p>
                      <a:pPr algn="ctr"/>
                      <a:r>
                        <a:rPr lang="en-IN" sz="1800" kern="1200" dirty="0">
                          <a:solidFill>
                            <a:schemeClr val="dk1"/>
                          </a:solidFill>
                          <a:effectLst/>
                          <a:latin typeface="+mn-lt"/>
                          <a:ea typeface="+mn-ea"/>
                          <a:cs typeface="+mn-cs"/>
                        </a:rPr>
                        <a:t>0.61782795 </a:t>
                      </a:r>
                      <a:endParaRPr lang="en-IN" dirty="0"/>
                    </a:p>
                  </a:txBody>
                  <a:tcPr/>
                </a:tc>
                <a:extLst>
                  <a:ext uri="{0D108BD9-81ED-4DB2-BD59-A6C34878D82A}">
                    <a16:rowId xmlns:a16="http://schemas.microsoft.com/office/drawing/2014/main" val="2818476224"/>
                  </a:ext>
                </a:extLst>
              </a:tr>
            </a:tbl>
          </a:graphicData>
        </a:graphic>
      </p:graphicFrame>
      <p:pic>
        <p:nvPicPr>
          <p:cNvPr id="15" name="Picture 4" descr="University of Hyderabad, India">
            <a:extLst>
              <a:ext uri="{FF2B5EF4-FFF2-40B4-BE49-F238E27FC236}">
                <a16:creationId xmlns:a16="http://schemas.microsoft.com/office/drawing/2014/main" id="{F6E3FD07-6C94-9FD8-7F9C-7CEED360F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Institution of Eminence Logo unveiled |">
            <a:extLst>
              <a:ext uri="{FF2B5EF4-FFF2-40B4-BE49-F238E27FC236}">
                <a16:creationId xmlns:a16="http://schemas.microsoft.com/office/drawing/2014/main" id="{F269AB19-0554-8F26-8AFB-07A86D3E9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582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BF09-6EAD-578B-9424-ADD8F670931C}"/>
              </a:ext>
            </a:extLst>
          </p:cNvPr>
          <p:cNvSpPr>
            <a:spLocks noGrp="1"/>
          </p:cNvSpPr>
          <p:nvPr>
            <p:ph type="title"/>
          </p:nvPr>
        </p:nvSpPr>
        <p:spPr/>
        <p:txBody>
          <a:bodyPr/>
          <a:lstStyle/>
          <a:p>
            <a:r>
              <a:rPr lang="en-US" dirty="0"/>
              <a:t>            C/C++ Inference Implemented</a:t>
            </a:r>
            <a:endParaRPr lang="en-IN" dirty="0"/>
          </a:p>
        </p:txBody>
      </p:sp>
      <p:sp>
        <p:nvSpPr>
          <p:cNvPr id="3" name="Content Placeholder 2">
            <a:extLst>
              <a:ext uri="{FF2B5EF4-FFF2-40B4-BE49-F238E27FC236}">
                <a16:creationId xmlns:a16="http://schemas.microsoft.com/office/drawing/2014/main" id="{C95544F2-CA25-8B6B-0A50-06D855644300}"/>
              </a:ext>
            </a:extLst>
          </p:cNvPr>
          <p:cNvSpPr>
            <a:spLocks noGrp="1"/>
          </p:cNvSpPr>
          <p:nvPr>
            <p:ph idx="1"/>
          </p:nvPr>
        </p:nvSpPr>
        <p:spPr/>
        <p:txBody>
          <a:bodyPr>
            <a:normAutofit fontScale="77500" lnSpcReduction="20000"/>
          </a:bodyPr>
          <a:lstStyle/>
          <a:p>
            <a:r>
              <a:rPr lang="en-US" dirty="0"/>
              <a:t>Inference code for Tensorflow lite models was developed in both C and C++ to enable seamless execution and real time predictions.</a:t>
            </a:r>
          </a:p>
          <a:p>
            <a:r>
              <a:rPr lang="en-US" dirty="0"/>
              <a:t>Dynamic Link Library files were generated for the Tensorflow lite inference code. These DLL files encapsulate the necessary functionality, allowing easy deployment on the respective systems.</a:t>
            </a:r>
          </a:p>
          <a:p>
            <a:r>
              <a:rPr lang="en-US" dirty="0"/>
              <a:t>An executable file was built to demonstrate the Tensorflow Lite inference process. This executable integrates all required header files, libraries and DLL’s providing a self-contained runtime environment for the inference task.</a:t>
            </a:r>
          </a:p>
          <a:p>
            <a:r>
              <a:rPr lang="en-US" dirty="0"/>
              <a:t>Bazel with clang compiler setup is used for generating the DLL’s. Bazel was also used as the build system for managing dependencies, compiling code and generating corresponding executable file.</a:t>
            </a:r>
          </a:p>
          <a:p>
            <a:r>
              <a:rPr lang="en-US" dirty="0"/>
              <a:t>This approach ensures the generated DLL files can be reused in diverse applications and frameworks. The generated DLL’s and executable were tested to ensure functionality, compatibility and efficiency in performing Tensorflow Lite Inference.</a:t>
            </a:r>
            <a:endParaRPr lang="en-IN" dirty="0"/>
          </a:p>
        </p:txBody>
      </p:sp>
      <p:pic>
        <p:nvPicPr>
          <p:cNvPr id="4" name="Picture 4" descr="University of Hyderabad, India">
            <a:extLst>
              <a:ext uri="{FF2B5EF4-FFF2-40B4-BE49-F238E27FC236}">
                <a16:creationId xmlns:a16="http://schemas.microsoft.com/office/drawing/2014/main" id="{11BDD240-BEEA-C8CE-A619-673D39B47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88535"/>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nstitution of Eminence Logo unveiled |">
            <a:extLst>
              <a:ext uri="{FF2B5EF4-FFF2-40B4-BE49-F238E27FC236}">
                <a16:creationId xmlns:a16="http://schemas.microsoft.com/office/drawing/2014/main" id="{597E7A07-4581-F27E-7E83-48730B24B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89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7BA4-66C0-0CA0-9998-B193A345A59B}"/>
              </a:ext>
            </a:extLst>
          </p:cNvPr>
          <p:cNvSpPr>
            <a:spLocks noGrp="1"/>
          </p:cNvSpPr>
          <p:nvPr>
            <p:ph type="title"/>
          </p:nvPr>
        </p:nvSpPr>
        <p:spPr/>
        <p:txBody>
          <a:bodyPr/>
          <a:lstStyle/>
          <a:p>
            <a:r>
              <a:rPr lang="en-US" dirty="0"/>
              <a:t>                     ARM Deployment</a:t>
            </a:r>
            <a:endParaRPr lang="en-IN" dirty="0"/>
          </a:p>
        </p:txBody>
      </p:sp>
      <p:sp>
        <p:nvSpPr>
          <p:cNvPr id="3" name="Content Placeholder 2">
            <a:extLst>
              <a:ext uri="{FF2B5EF4-FFF2-40B4-BE49-F238E27FC236}">
                <a16:creationId xmlns:a16="http://schemas.microsoft.com/office/drawing/2014/main" id="{2DC8CED1-6025-7573-E417-F7A042BD7077}"/>
              </a:ext>
            </a:extLst>
          </p:cNvPr>
          <p:cNvSpPr>
            <a:spLocks noGrp="1"/>
          </p:cNvSpPr>
          <p:nvPr>
            <p:ph idx="1"/>
          </p:nvPr>
        </p:nvSpPr>
        <p:spPr/>
        <p:txBody>
          <a:bodyPr>
            <a:normAutofit lnSpcReduction="10000"/>
          </a:bodyPr>
          <a:lstStyle/>
          <a:p>
            <a:r>
              <a:rPr lang="en-US" sz="1800" dirty="0"/>
              <a:t>After validating the Tensorflow lite inference code functionality on Windows, the next step involved deploying the inference framework on ARM-based machines.</a:t>
            </a:r>
          </a:p>
          <a:p>
            <a:r>
              <a:rPr lang="en-US" sz="1800" dirty="0"/>
              <a:t>The ARM GCC compiler was used to cross compile the C and C++ inference code for ARM architecture, ensuring compatibility with target hardware.</a:t>
            </a:r>
          </a:p>
          <a:p>
            <a:r>
              <a:rPr lang="en-US" sz="1800" dirty="0"/>
              <a:t>The toolchain facilitated the generation of both dynamic link libraries (.so) and executable files optimized for ARM machines.</a:t>
            </a:r>
          </a:p>
          <a:p>
            <a:r>
              <a:rPr lang="en-US" sz="1800" dirty="0"/>
              <a:t>Bazel was employed as the build system for managing dependencies, configuring the ARM GCC toolchain, and generating the required binaries.</a:t>
            </a:r>
          </a:p>
          <a:p>
            <a:r>
              <a:rPr lang="en-US" sz="1800" dirty="0"/>
              <a:t>The C and C++ inference code was compiled into an executable file and .so files were generated for deployment on ARM machines.</a:t>
            </a:r>
          </a:p>
          <a:p>
            <a:r>
              <a:rPr lang="en-US" sz="1800" dirty="0"/>
              <a:t>The generated binaries were designed to integrate seamlessly with the TensorFlow Lite runtime on the ARM platform.</a:t>
            </a:r>
          </a:p>
          <a:p>
            <a:r>
              <a:rPr lang="en-US" sz="1800" dirty="0"/>
              <a:t>The compiled executables and libraries were deployed onto the ARM-based machines for testing and validation. The inference tasks were performed to verify the functionality, accuracy, and performance of the deployed code.</a:t>
            </a:r>
          </a:p>
          <a:p>
            <a:endParaRPr lang="en-IN" dirty="0"/>
          </a:p>
        </p:txBody>
      </p:sp>
      <p:pic>
        <p:nvPicPr>
          <p:cNvPr id="14" name="Picture 4" descr="University of Hyderabad, India">
            <a:extLst>
              <a:ext uri="{FF2B5EF4-FFF2-40B4-BE49-F238E27FC236}">
                <a16:creationId xmlns:a16="http://schemas.microsoft.com/office/drawing/2014/main" id="{90E36D71-726A-0866-4C61-4C173B9DF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Institution of Eminence Logo unveiled |">
            <a:extLst>
              <a:ext uri="{FF2B5EF4-FFF2-40B4-BE49-F238E27FC236}">
                <a16:creationId xmlns:a16="http://schemas.microsoft.com/office/drawing/2014/main" id="{35437A62-76C9-44FE-511A-3701470D7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100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2A717-01FF-EFC7-F5B4-9B4179DCBABA}"/>
              </a:ext>
            </a:extLst>
          </p:cNvPr>
          <p:cNvSpPr>
            <a:spLocks noGrp="1"/>
          </p:cNvSpPr>
          <p:nvPr>
            <p:ph type="title"/>
          </p:nvPr>
        </p:nvSpPr>
        <p:spPr>
          <a:xfrm>
            <a:off x="2422689" y="379001"/>
            <a:ext cx="7636497" cy="1009651"/>
          </a:xfrm>
        </p:spPr>
        <p:txBody>
          <a:bodyPr>
            <a:normAutofit fontScale="90000"/>
          </a:bodyPr>
          <a:lstStyle/>
          <a:p>
            <a:r>
              <a:rPr lang="en-US" altLang="en-US" sz="4400" b="1" dirty="0"/>
              <a:t>Proposed research work for the next semester</a:t>
            </a:r>
            <a:endParaRPr lang="en-IN" dirty="0"/>
          </a:p>
        </p:txBody>
      </p:sp>
      <p:sp>
        <p:nvSpPr>
          <p:cNvPr id="3" name="Content Placeholder 2">
            <a:extLst>
              <a:ext uri="{FF2B5EF4-FFF2-40B4-BE49-F238E27FC236}">
                <a16:creationId xmlns:a16="http://schemas.microsoft.com/office/drawing/2014/main" id="{E21AF1AC-469A-A434-23BB-272CE1FB8125}"/>
              </a:ext>
            </a:extLst>
          </p:cNvPr>
          <p:cNvSpPr>
            <a:spLocks noGrp="1"/>
          </p:cNvSpPr>
          <p:nvPr>
            <p:ph idx="1"/>
          </p:nvPr>
        </p:nvSpPr>
        <p:spPr/>
        <p:txBody>
          <a:bodyPr>
            <a:normAutofit fontScale="92500" lnSpcReduction="20000"/>
          </a:bodyPr>
          <a:lstStyle/>
          <a:p>
            <a:r>
              <a:rPr lang="en-US" dirty="0"/>
              <a:t>The tensorflow lite models, initially developed using simulated data, will be deployed and tested with real world data to evaluate their performance in practical scenarios.</a:t>
            </a:r>
          </a:p>
          <a:p>
            <a:r>
              <a:rPr lang="en-US" dirty="0"/>
              <a:t>This step aims to identify any discrepancies in model prediction and performance when exposed to real operational constraints.</a:t>
            </a:r>
          </a:p>
          <a:p>
            <a:r>
              <a:rPr lang="en-US" dirty="0"/>
              <a:t>Based on the results from testing with real data, fine tuning of the models will be undertaken to improving their accuracy and reliability.</a:t>
            </a:r>
          </a:p>
          <a:p>
            <a:r>
              <a:rPr lang="en-US" dirty="0"/>
              <a:t>The fine-tuning process will involve retraining or optimizing the model parameters to align better with the characteristics of real data.</a:t>
            </a:r>
          </a:p>
          <a:p>
            <a:r>
              <a:rPr lang="en-US" dirty="0"/>
              <a:t>After fine-tuning, the performance of the tensorflow lite models on real data will be compared with traditional physics-based methods. This comparison will focus on metrics, speed, resource efficiency to determine relative strengths and weaknesses of both approaches.</a:t>
            </a:r>
            <a:endParaRPr lang="en-IN" dirty="0"/>
          </a:p>
        </p:txBody>
      </p:sp>
      <p:pic>
        <p:nvPicPr>
          <p:cNvPr id="6" name="Picture 4" descr="University of Hyderabad, India">
            <a:extLst>
              <a:ext uri="{FF2B5EF4-FFF2-40B4-BE49-F238E27FC236}">
                <a16:creationId xmlns:a16="http://schemas.microsoft.com/office/drawing/2014/main" id="{CAE85261-4E95-5553-DE7C-CD26F5EE5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Institution of Eminence Logo unveiled |">
            <a:extLst>
              <a:ext uri="{FF2B5EF4-FFF2-40B4-BE49-F238E27FC236}">
                <a16:creationId xmlns:a16="http://schemas.microsoft.com/office/drawing/2014/main" id="{517B0A90-5DA6-64E5-F66E-D5BF10EFC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236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8546AC-D8C4-5CF8-4381-D16F4444EAAF}"/>
              </a:ext>
            </a:extLst>
          </p:cNvPr>
          <p:cNvSpPr>
            <a:spLocks noGrp="1"/>
          </p:cNvSpPr>
          <p:nvPr>
            <p:ph type="title"/>
            <p:custDataLst>
              <p:tags r:id="rId1"/>
            </p:custDataLst>
          </p:nvPr>
        </p:nvSpPr>
        <p:spPr bwMode="auto">
          <a:xfrm>
            <a:off x="3719513" y="2781300"/>
            <a:ext cx="44577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altLang="en-US" sz="5400"/>
              <a:t>Thank You</a:t>
            </a:r>
          </a:p>
        </p:txBody>
      </p:sp>
      <p:pic>
        <p:nvPicPr>
          <p:cNvPr id="2" name="Picture 4" descr="University of Hyderabad, India">
            <a:extLst>
              <a:ext uri="{FF2B5EF4-FFF2-40B4-BE49-F238E27FC236}">
                <a16:creationId xmlns:a16="http://schemas.microsoft.com/office/drawing/2014/main" id="{C3617A39-D5B0-5F51-360C-DB9619E99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20689278-A731-99AB-B9B8-CAEA1F9F2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5365C200-3E21-4A73-FD85-A29904BFA3D3}"/>
              </a:ext>
            </a:extLst>
          </p:cNvPr>
          <p:cNvSpPr>
            <a:spLocks noGrp="1"/>
          </p:cNvSpPr>
          <p:nvPr>
            <p:ph type="title"/>
          </p:nvPr>
        </p:nvSpPr>
        <p:spPr bwMode="auto">
          <a:xfrm>
            <a:off x="3287714" y="549275"/>
            <a:ext cx="2160587" cy="43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IN" altLang="en-US" sz="2800" b="1"/>
              <a:t>References</a:t>
            </a:r>
            <a:endParaRPr lang="en-IN" altLang="en-US" sz="1800" b="1"/>
          </a:p>
        </p:txBody>
      </p:sp>
      <p:sp>
        <p:nvSpPr>
          <p:cNvPr id="64515" name="TextBox 1">
            <a:extLst>
              <a:ext uri="{FF2B5EF4-FFF2-40B4-BE49-F238E27FC236}">
                <a16:creationId xmlns:a16="http://schemas.microsoft.com/office/drawing/2014/main" id="{7010F4D4-2FC8-2F7D-F8AF-39792E9F6388}"/>
              </a:ext>
            </a:extLst>
          </p:cNvPr>
          <p:cNvSpPr txBox="1">
            <a:spLocks noChangeArrowheads="1"/>
          </p:cNvSpPr>
          <p:nvPr/>
        </p:nvSpPr>
        <p:spPr bwMode="auto">
          <a:xfrm>
            <a:off x="1847851" y="1673225"/>
            <a:ext cx="8856663"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Calibri" panose="020F0502020204030204" pitchFamily="34" charset="0"/>
              <a:buAutoNum type="arabicPeriod"/>
            </a:pPr>
            <a:r>
              <a:rPr lang="en-US" altLang="en-US" dirty="0" err="1"/>
              <a:t>Kunjin</a:t>
            </a:r>
            <a:r>
              <a:rPr lang="en-US" altLang="en-US" dirty="0"/>
              <a:t> Chen, </a:t>
            </a:r>
            <a:r>
              <a:rPr lang="en-US" altLang="en-US" dirty="0" err="1"/>
              <a:t>Caowei</a:t>
            </a:r>
            <a:r>
              <a:rPr lang="en-US" altLang="en-US" dirty="0"/>
              <a:t> Huang, </a:t>
            </a:r>
            <a:r>
              <a:rPr lang="en-US" altLang="en-US" dirty="0" err="1"/>
              <a:t>Jinliang</a:t>
            </a:r>
            <a:r>
              <a:rPr lang="en-US" altLang="en-US" dirty="0"/>
              <a:t> He , et al. "Fault detection, classification and location for transmission lines and distribution systems: a review on the methods “,  pp. 1-9, 2016</a:t>
            </a:r>
          </a:p>
          <a:p>
            <a:pPr>
              <a:buFont typeface="Calibri" panose="020F0502020204030204" pitchFamily="34" charset="0"/>
              <a:buAutoNum type="arabicPeriod"/>
            </a:pPr>
            <a:r>
              <a:rPr lang="en-US" altLang="en-US" dirty="0" err="1"/>
              <a:t>Yahui</a:t>
            </a:r>
            <a:r>
              <a:rPr lang="en-US" altLang="en-US" dirty="0"/>
              <a:t> Wang a, </a:t>
            </a:r>
            <a:r>
              <a:rPr lang="en-US" altLang="en-US" dirty="0" err="1"/>
              <a:t>Qiushi</a:t>
            </a:r>
            <a:r>
              <a:rPr lang="en-US" altLang="en-US" dirty="0"/>
              <a:t> Cui b,∗,1, Yang Weng c,2, </a:t>
            </a:r>
            <a:r>
              <a:rPr lang="en-US" altLang="en-US" dirty="0" err="1"/>
              <a:t>Dongdong</a:t>
            </a:r>
            <a:r>
              <a:rPr lang="en-US" altLang="en-US" dirty="0"/>
              <a:t> Li a,1, </a:t>
            </a:r>
            <a:r>
              <a:rPr lang="en-US" altLang="en-US" dirty="0" err="1"/>
              <a:t>Wenyuan</a:t>
            </a:r>
            <a:r>
              <a:rPr lang="en-US" altLang="en-US" dirty="0"/>
              <a:t> Li, et al. "Learning picturized and time-series data for fault location with renewable energy sources “,  pp. 1-13, 2022</a:t>
            </a:r>
          </a:p>
          <a:p>
            <a:pPr>
              <a:buFont typeface="Calibri" panose="020F0502020204030204" pitchFamily="34" charset="0"/>
              <a:buAutoNum type="arabicPeriod"/>
            </a:pPr>
            <a:r>
              <a:rPr lang="en-US" altLang="en-US" dirty="0"/>
              <a:t>Ganiyu </a:t>
            </a:r>
            <a:r>
              <a:rPr lang="en-US" altLang="en-US" dirty="0" err="1"/>
              <a:t>Adedayo</a:t>
            </a:r>
            <a:r>
              <a:rPr lang="en-US" altLang="en-US" dirty="0"/>
              <a:t> </a:t>
            </a:r>
            <a:r>
              <a:rPr lang="en-US" altLang="en-US" dirty="0" err="1"/>
              <a:t>Ajenikoko</a:t>
            </a:r>
            <a:r>
              <a:rPr lang="en-US" altLang="en-US" dirty="0"/>
              <a:t> &amp; Segun, Olufemi </a:t>
            </a:r>
            <a:r>
              <a:rPr lang="en-US" altLang="en-US" dirty="0" err="1"/>
              <a:t>Sangotola</a:t>
            </a:r>
            <a:r>
              <a:rPr lang="en-US" altLang="en-US" dirty="0"/>
              <a:t>, et al. "Fault location of transmission line based on CNN-LSTM double-ended combined model “,  pp. 1-11, 2022</a:t>
            </a:r>
          </a:p>
          <a:p>
            <a:pPr>
              <a:buFont typeface="Calibri" panose="020F0502020204030204" pitchFamily="34" charset="0"/>
              <a:buAutoNum type="arabicPeriod"/>
            </a:pPr>
            <a:r>
              <a:rPr lang="en-US" altLang="en-US" dirty="0"/>
              <a:t>Rui Fan, </a:t>
            </a:r>
            <a:r>
              <a:rPr lang="en-US" altLang="en-US" dirty="0" err="1"/>
              <a:t>Tianzhixi</a:t>
            </a:r>
            <a:r>
              <a:rPr lang="en-US" altLang="en-US" dirty="0"/>
              <a:t> Yin, </a:t>
            </a:r>
            <a:r>
              <a:rPr lang="en-US" altLang="en-US" dirty="0" err="1"/>
              <a:t>Renke</a:t>
            </a:r>
            <a:r>
              <a:rPr lang="en-US" altLang="en-US" dirty="0"/>
              <a:t> Huang, </a:t>
            </a:r>
            <a:r>
              <a:rPr lang="en-US" altLang="en-US" dirty="0" err="1"/>
              <a:t>Jianming</a:t>
            </a:r>
            <a:r>
              <a:rPr lang="en-US" altLang="en-US" dirty="0"/>
              <a:t> Lian,, and </a:t>
            </a:r>
            <a:r>
              <a:rPr lang="en-US" altLang="en-US" dirty="0" err="1"/>
              <a:t>Shaobu</a:t>
            </a:r>
            <a:r>
              <a:rPr lang="en-US" altLang="en-US" dirty="0"/>
              <a:t> Wang, , et al. "Transmission Line Fault Location Using Deep Learning Techniques “,  pp. 1-5, 2023</a:t>
            </a:r>
          </a:p>
          <a:p>
            <a:pPr>
              <a:buFont typeface="Calibri" panose="020F0502020204030204" pitchFamily="34" charset="0"/>
              <a:buAutoNum type="arabicPeriod"/>
            </a:pPr>
            <a:endParaRPr lang="en-IN" altLang="en-US" sz="1400" dirty="0"/>
          </a:p>
        </p:txBody>
      </p:sp>
      <p:pic>
        <p:nvPicPr>
          <p:cNvPr id="2" name="Picture 4" descr="University of Hyderabad, India">
            <a:extLst>
              <a:ext uri="{FF2B5EF4-FFF2-40B4-BE49-F238E27FC236}">
                <a16:creationId xmlns:a16="http://schemas.microsoft.com/office/drawing/2014/main" id="{6F298160-6C97-BF68-E804-BD5201B65A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11" y="179108"/>
            <a:ext cx="2186078" cy="12072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Institution of Eminence Logo unveiled |">
            <a:extLst>
              <a:ext uri="{FF2B5EF4-FFF2-40B4-BE49-F238E27FC236}">
                <a16:creationId xmlns:a16="http://schemas.microsoft.com/office/drawing/2014/main" id="{23AD8AC1-E40A-B97E-9CAB-14C4ED0CE7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4264" y="129124"/>
            <a:ext cx="945822" cy="1381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Rcuf4iZwLgLEPe9Eifdx3u"/>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1773</TotalTime>
  <Words>2754</Words>
  <Application>Microsoft Office PowerPoint</Application>
  <PresentationFormat>Widescreen</PresentationFormat>
  <Paragraphs>209</Paragraphs>
  <Slides>23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CMBX12</vt:lpstr>
      <vt:lpstr>Nunito Sans</vt:lpstr>
      <vt:lpstr>Sons Condensed Extrabold</vt:lpstr>
      <vt:lpstr>Wingdings</vt:lpstr>
      <vt:lpstr>Office Theme</vt:lpstr>
      <vt:lpstr>Deploying and Improving existing AI/ML based Fault Classification and Fault Location Detection Algorithms of Transmission Lines on Edge Devices         Sai Rishik Thakkallapally    20MCME05    Sudhanshu Mishra    Mridula Verma   School of Computer and Information Sciences </vt:lpstr>
      <vt:lpstr>About the company (for intern students only)</vt:lpstr>
      <vt:lpstr>Research Objectives</vt:lpstr>
      <vt:lpstr>Problem Statement</vt:lpstr>
      <vt:lpstr>    Power systems Introduction </vt:lpstr>
      <vt:lpstr>Structure of Power Systems</vt:lpstr>
      <vt:lpstr>Transmission Lines</vt:lpstr>
      <vt:lpstr>Types of faults in Transmission Lines</vt:lpstr>
      <vt:lpstr>        Fault Detection in power systems</vt:lpstr>
      <vt:lpstr>Physics Based Methods being used </vt:lpstr>
      <vt:lpstr>Project Progress</vt:lpstr>
      <vt:lpstr>Model Conversion</vt:lpstr>
      <vt:lpstr>Model Conversion Continued..</vt:lpstr>
      <vt:lpstr>Dataset Information </vt:lpstr>
      <vt:lpstr>    Dataset 1 Information </vt:lpstr>
      <vt:lpstr>Dataset1 Continued..</vt:lpstr>
      <vt:lpstr>                     Dataset 2 Information</vt:lpstr>
      <vt:lpstr>               Accuracy Validation Performance Metrics of Lite Models</vt:lpstr>
      <vt:lpstr>            C/C++ Inference Implemented</vt:lpstr>
      <vt:lpstr>                     ARM Deployment</vt:lpstr>
      <vt:lpstr>Proposed research work for the next semester</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 based Fault Classification and Fault Location Detection for Transmission Lines         Piyush Parwani    18mcme21    Sudhanshu Mishra    Atul Negi   School of Computer and Information Sciences </dc:title>
  <dc:creator>Thakkallapally, Sai (GE Vernova)</dc:creator>
  <cp:lastModifiedBy>Thakkallapally, Sai (GE Vernova)</cp:lastModifiedBy>
  <cp:revision>104</cp:revision>
  <dcterms:created xsi:type="dcterms:W3CDTF">2025-01-04T06:06:45Z</dcterms:created>
  <dcterms:modified xsi:type="dcterms:W3CDTF">2025-01-05T11:39:45Z</dcterms:modified>
</cp:coreProperties>
</file>